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374140"/>
                </a:solidFill>
                <a:latin typeface="Arial"/>
              </a:defRPr>
            </a:pPr>
            <a:r>
              <a:rPr sz="1200" b="1" i="0" u="none" strike="noStrike">
                <a:solidFill>
                  <a:srgbClr val="374140"/>
                </a:solidFill>
                <a:latin typeface="Arial"/>
              </a:rPr>
              <a:t>Evolução Patrimonial — 12 Meses (R$ MM)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Patrimônio (R$ MM)</c:v>
                </c:pt>
              </c:strCache>
            </c:strRef>
          </c:tx>
          <c:spPr>
            <a:solidFill>
              <a:srgbClr val="1C6B67"/>
            </a:solidFill>
            <a:ln w="38100" cap="flat">
              <a:solidFill>
                <a:srgbClr val="1C6B6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7414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6B67"/>
              </a:solidFill>
              <a:ln w="9525" cap="flat">
                <a:solidFill>
                  <a:srgbClr val="1C6B6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Jun/25</c:v>
                  </c:pt>
                  <c:pt idx="1">
                    <c:v>Jul/25</c:v>
                  </c:pt>
                  <c:pt idx="2">
                    <c:v>Ago/25</c:v>
                  </c:pt>
                  <c:pt idx="3">
                    <c:v>Set/25</c:v>
                  </c:pt>
                  <c:pt idx="4">
                    <c:v>Out/25</c:v>
                  </c:pt>
                  <c:pt idx="5">
                    <c:v>Nov/25</c:v>
                  </c:pt>
                  <c:pt idx="6">
                    <c:v>Dez/25</c:v>
                  </c:pt>
                  <c:pt idx="7">
                    <c:v>Jan/26</c:v>
                  </c:pt>
                  <c:pt idx="8">
                    <c:v>Fev/26</c:v>
                  </c:pt>
                  <c:pt idx="9">
                    <c:v>Mar/26</c:v>
                  </c:pt>
                  <c:pt idx="10">
                    <c:v>Abr/26</c:v>
                  </c:pt>
                  <c:pt idx="11">
                    <c:v>Mai/26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5.66</c:v>
                </c:pt>
                <c:pt idx="1">
                  <c:v>5.3</c:v>
                </c:pt>
                <c:pt idx="2">
                  <c:v>5.64</c:v>
                </c:pt>
                <c:pt idx="3">
                  <c:v>5.82</c:v>
                </c:pt>
                <c:pt idx="4">
                  <c:v>5.92</c:v>
                </c:pt>
                <c:pt idx="5">
                  <c:v>6.03</c:v>
                </c:pt>
                <c:pt idx="6">
                  <c:v>6.18</c:v>
                </c:pt>
                <c:pt idx="7">
                  <c:v>6.81</c:v>
                </c:pt>
                <c:pt idx="8">
                  <c:v>7.09</c:v>
                </c:pt>
                <c:pt idx="9">
                  <c:v>6.45</c:v>
                </c:pt>
                <c:pt idx="10">
                  <c:v>6.34</c:v>
                </c:pt>
                <c:pt idx="11">
                  <c:v>6.07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7414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F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1" i="0" u="none" strike="noStrike">
                <a:solidFill>
                  <a:srgbClr val="374140"/>
                </a:solidFill>
                <a:latin typeface="Arial"/>
              </a:defRPr>
            </a:pPr>
            <a:r>
              <a:rPr sz="1100" b="1" i="0" u="none" strike="noStrike">
                <a:solidFill>
                  <a:srgbClr val="374140"/>
                </a:solidFill>
                <a:latin typeface="Arial"/>
              </a:rPr>
              <a:t>Rentabilidade do Mês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Carteira/Classe</c:v>
                </c:pt>
              </c:strCache>
            </c:strRef>
          </c:tx>
          <c:spPr>
            <a:solidFill>
              <a:srgbClr val="1C6B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741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Portfólio</c:v>
                  </c:pt>
                  <c:pt idx="1">
                    <c:v>Pós Fixado</c:v>
                  </c:pt>
                  <c:pt idx="2">
                    <c:v>Inflação</c:v>
                  </c:pt>
                  <c:pt idx="3">
                    <c:v>Renda Var.</c:v>
                  </c:pt>
                  <c:pt idx="4">
                    <c:v>Alternativo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-4.29</c:v>
                </c:pt>
                <c:pt idx="1">
                  <c:v>1.07</c:v>
                </c:pt>
                <c:pt idx="2">
                  <c:v>1.06</c:v>
                </c:pt>
                <c:pt idx="3">
                  <c:v>-5.25</c:v>
                </c:pt>
                <c:pt idx="4">
                  <c:v>-1.99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Benchmark</c:v>
                </c:pt>
              </c:strCache>
            </c:strRef>
          </c:tx>
          <c:spPr>
            <a:solidFill>
              <a:srgbClr val="D4A01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741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Portfólio</c:v>
                  </c:pt>
                  <c:pt idx="1">
                    <c:v>Pós Fixado</c:v>
                  </c:pt>
                  <c:pt idx="2">
                    <c:v>Inflação</c:v>
                  </c:pt>
                  <c:pt idx="3">
                    <c:v>Renda Var.</c:v>
                  </c:pt>
                  <c:pt idx="4">
                    <c:v>Alternativo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1.07</c:v>
                </c:pt>
                <c:pt idx="1">
                  <c:v>1.07</c:v>
                </c:pt>
                <c:pt idx="2">
                  <c:v>0.58</c:v>
                </c:pt>
                <c:pt idx="3">
                  <c:v>-7.22</c:v>
                </c:pt>
                <c:pt idx="4">
                  <c:v>1.07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741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F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37414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1" i="0" u="none" strike="noStrike">
                <a:solidFill>
                  <a:srgbClr val="374140"/>
                </a:solidFill>
                <a:latin typeface="Arial"/>
              </a:defRPr>
            </a:pPr>
            <a:r>
              <a:rPr sz="1100" b="1" i="0" u="none" strike="noStrike">
                <a:solidFill>
                  <a:srgbClr val="374140"/>
                </a:solidFill>
                <a:latin typeface="Arial"/>
              </a:rPr>
              <a:t>Rentabilidade no Ano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Carteira/Classe</c:v>
                </c:pt>
              </c:strCache>
            </c:strRef>
          </c:tx>
          <c:spPr>
            <a:solidFill>
              <a:srgbClr val="1C6B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741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Portfólio</c:v>
                  </c:pt>
                  <c:pt idx="1">
                    <c:v>Pós Fixado</c:v>
                  </c:pt>
                  <c:pt idx="2">
                    <c:v>Inflação</c:v>
                  </c:pt>
                  <c:pt idx="3">
                    <c:v>Renda Var.</c:v>
                  </c:pt>
                  <c:pt idx="4">
                    <c:v>Alternativo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-1.43</c:v>
                </c:pt>
                <c:pt idx="1">
                  <c:v>3.9</c:v>
                </c:pt>
                <c:pt idx="2">
                  <c:v>6.04</c:v>
                </c:pt>
                <c:pt idx="3">
                  <c:v>-1.37</c:v>
                </c:pt>
                <c:pt idx="4">
                  <c:v>-23.81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Benchmark</c:v>
                </c:pt>
              </c:strCache>
            </c:strRef>
          </c:tx>
          <c:spPr>
            <a:solidFill>
              <a:srgbClr val="D4A01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741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Portfólio</c:v>
                  </c:pt>
                  <c:pt idx="1">
                    <c:v>Pós Fixado</c:v>
                  </c:pt>
                  <c:pt idx="2">
                    <c:v>Inflação</c:v>
                  </c:pt>
                  <c:pt idx="3">
                    <c:v>Renda Var.</c:v>
                  </c:pt>
                  <c:pt idx="4">
                    <c:v>Alternativo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5.66</c:v>
                </c:pt>
                <c:pt idx="1">
                  <c:v>5.66</c:v>
                </c:pt>
                <c:pt idx="2">
                  <c:v>3.2</c:v>
                </c:pt>
                <c:pt idx="3">
                  <c:v>7.86</c:v>
                </c:pt>
                <c:pt idx="4">
                  <c:v>5.66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741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F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Alocação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C6B67"/>
              </a:solidFill>
              <a:effectLst/>
            </c:spPr>
          </c:dPt>
          <c:dPt>
            <c:idx val="1"/>
            <c:bubble3D val="0"/>
            <c:spPr>
              <a:solidFill>
                <a:srgbClr val="C8A733"/>
              </a:solidFill>
              <a:effectLst/>
            </c:spPr>
          </c:dPt>
          <c:dPt>
            <c:idx val="2"/>
            <c:bubble3D val="0"/>
            <c:spPr>
              <a:solidFill>
                <a:srgbClr val="29897F"/>
              </a:solidFill>
              <a:effectLst/>
            </c:spPr>
          </c:dPt>
          <c:dPt>
            <c:idx val="3"/>
            <c:bubble3D val="0"/>
            <c:spPr>
              <a:solidFill>
                <a:srgbClr val="7B4F2E"/>
              </a:solidFill>
              <a:effectLst/>
            </c:spPr>
          </c:dPt>
          <c:dPt>
            <c:idx val="4"/>
            <c:bubble3D val="0"/>
            <c:spPr>
              <a:solidFill>
                <a:srgbClr val="6B7B7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RV Brasil</c:v>
                </c:pt>
                <c:pt idx="1">
                  <c:v>Pós Fixado</c:v>
                </c:pt>
                <c:pt idx="2">
                  <c:v>Inflação</c:v>
                </c:pt>
                <c:pt idx="3">
                  <c:v>Alternativo</c:v>
                </c:pt>
                <c:pt idx="4">
                  <c:v>Caixa+Prov.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90.65</c:v>
                </c:pt>
                <c:pt idx="1">
                  <c:v>5.72</c:v>
                </c:pt>
                <c:pt idx="2">
                  <c:v>3.07</c:v>
                </c:pt>
                <c:pt idx="3">
                  <c:v>0.38</c:v>
                </c:pt>
                <c:pt idx="4">
                  <c:v>0.18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37414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2F7F6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da Carteira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A83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9897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C6B67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BBAS3</c:v>
                  </c:pt>
                  <c:pt idx="1">
                    <c:v>VALE3</c:v>
                  </c:pt>
                  <c:pt idx="2">
                    <c:v>SBSP3</c:v>
                  </c:pt>
                  <c:pt idx="3">
                    <c:v>Outros 30+ ativos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50.42</c:v>
                </c:pt>
                <c:pt idx="1">
                  <c:v>17.34</c:v>
                </c:pt>
                <c:pt idx="2">
                  <c:v>3.33</c:v>
                </c:pt>
                <c:pt idx="3">
                  <c:v>28.91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CCC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4A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CCC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3533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Portfólio (%)</c:v>
                </c:pt>
              </c:strCache>
            </c:strRef>
          </c:tx>
          <c:spPr>
            <a:solidFill>
              <a:srgbClr val="1C6B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Sheet1!$A$2:$A$30</c:f>
              <c:multiLvlStrCache>
                <c:ptCount val="29"/>
                <c:lvl>
                  <c:pt idx="0">
                    <c:v>Jan/24</c:v>
                  </c:pt>
                  <c:pt idx="1">
                    <c:v>Fev/24</c:v>
                  </c:pt>
                  <c:pt idx="2">
                    <c:v>Mar/24</c:v>
                  </c:pt>
                  <c:pt idx="3">
                    <c:v>Abr/24</c:v>
                  </c:pt>
                  <c:pt idx="4">
                    <c:v>Mai/24</c:v>
                  </c:pt>
                  <c:pt idx="5">
                    <c:v>Jun/24</c:v>
                  </c:pt>
                  <c:pt idx="6">
                    <c:v>Jul/24</c:v>
                  </c:pt>
                  <c:pt idx="7">
                    <c:v>Ago/24</c:v>
                  </c:pt>
                  <c:pt idx="8">
                    <c:v>Set/24</c:v>
                  </c:pt>
                  <c:pt idx="9">
                    <c:v>Out/24</c:v>
                  </c:pt>
                  <c:pt idx="10">
                    <c:v>Nov/24</c:v>
                  </c:pt>
                  <c:pt idx="11">
                    <c:v>Dez/24</c:v>
                  </c:pt>
                  <c:pt idx="12">
                    <c:v>Jan/25</c:v>
                  </c:pt>
                  <c:pt idx="13">
                    <c:v>Fev/25</c:v>
                  </c:pt>
                  <c:pt idx="14">
                    <c:v>Mar/25</c:v>
                  </c:pt>
                  <c:pt idx="15">
                    <c:v>Abr/25</c:v>
                  </c:pt>
                  <c:pt idx="16">
                    <c:v>Mai/25</c:v>
                  </c:pt>
                  <c:pt idx="17">
                    <c:v>Jun/25</c:v>
                  </c:pt>
                  <c:pt idx="18">
                    <c:v>Jul/25</c:v>
                  </c:pt>
                  <c:pt idx="19">
                    <c:v>Ago/25</c:v>
                  </c:pt>
                  <c:pt idx="20">
                    <c:v>Set/25</c:v>
                  </c:pt>
                  <c:pt idx="21">
                    <c:v>Out/25</c:v>
                  </c:pt>
                  <c:pt idx="22">
                    <c:v>Nov/25</c:v>
                  </c:pt>
                  <c:pt idx="23">
                    <c:v>Dez/25</c:v>
                  </c:pt>
                  <c:pt idx="24">
                    <c:v>Jan/26</c:v>
                  </c:pt>
                  <c:pt idx="25">
                    <c:v>Fev/26</c:v>
                  </c:pt>
                  <c:pt idx="26">
                    <c:v>Mar/26</c:v>
                  </c:pt>
                  <c:pt idx="27">
                    <c:v>Abr/26</c:v>
                  </c:pt>
                  <c:pt idx="28">
                    <c:v>Mai/26</c:v>
                  </c:pt>
                </c:lvl>
              </c:multiLvlStrCache>
            </c:multiLvl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-0.34</c:v>
                </c:pt>
                <c:pt idx="1">
                  <c:v>2.9</c:v>
                </c:pt>
                <c:pt idx="2">
                  <c:v>0.1</c:v>
                </c:pt>
                <c:pt idx="3">
                  <c:v>-2.73</c:v>
                </c:pt>
                <c:pt idx="4">
                  <c:v>-0.52</c:v>
                </c:pt>
                <c:pt idx="5">
                  <c:v>0.61</c:v>
                </c:pt>
                <c:pt idx="6">
                  <c:v>0.24</c:v>
                </c:pt>
                <c:pt idx="7">
                  <c:v>5.81</c:v>
                </c:pt>
                <c:pt idx="8">
                  <c:v>-1.73</c:v>
                </c:pt>
                <c:pt idx="9">
                  <c:v>-1.68</c:v>
                </c:pt>
                <c:pt idx="10">
                  <c:v>-3.55</c:v>
                </c:pt>
                <c:pt idx="11">
                  <c:v>-3.81</c:v>
                </c:pt>
                <c:pt idx="12">
                  <c:v>9.92</c:v>
                </c:pt>
                <c:pt idx="13">
                  <c:v>-1.54</c:v>
                </c:pt>
                <c:pt idx="14">
                  <c:v>4.03</c:v>
                </c:pt>
                <c:pt idx="15">
                  <c:v>3.02</c:v>
                </c:pt>
                <c:pt idx="16">
                  <c:v>-11.28</c:v>
                </c:pt>
                <c:pt idx="17">
                  <c:v>-2.21</c:v>
                </c:pt>
                <c:pt idx="18">
                  <c:v>-6.35</c:v>
                </c:pt>
                <c:pt idx="19">
                  <c:v>6.56</c:v>
                </c:pt>
                <c:pt idx="20">
                  <c:v>3.14</c:v>
                </c:pt>
                <c:pt idx="21">
                  <c:v>1.73</c:v>
                </c:pt>
                <c:pt idx="22">
                  <c:v>1.91</c:v>
                </c:pt>
                <c:pt idx="23">
                  <c:v>0.33</c:v>
                </c:pt>
                <c:pt idx="24">
                  <c:v>10.23</c:v>
                </c:pt>
                <c:pt idx="25">
                  <c:v>4.26</c:v>
                </c:pt>
                <c:pt idx="26">
                  <c:v>-8.95</c:v>
                </c:pt>
                <c:pt idx="27">
                  <c:v>-1.58</c:v>
                </c:pt>
                <c:pt idx="28">
                  <c:v>-4.29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CDI (%)</c:v>
                </c:pt>
              </c:strCache>
            </c:strRef>
          </c:tx>
          <c:spPr>
            <a:solidFill>
              <a:srgbClr val="D4A01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Sheet1!$A$2:$A$30</c:f>
              <c:multiLvlStrCache>
                <c:ptCount val="29"/>
                <c:lvl>
                  <c:pt idx="0">
                    <c:v>Jan/24</c:v>
                  </c:pt>
                  <c:pt idx="1">
                    <c:v>Fev/24</c:v>
                  </c:pt>
                  <c:pt idx="2">
                    <c:v>Mar/24</c:v>
                  </c:pt>
                  <c:pt idx="3">
                    <c:v>Abr/24</c:v>
                  </c:pt>
                  <c:pt idx="4">
                    <c:v>Mai/24</c:v>
                  </c:pt>
                  <c:pt idx="5">
                    <c:v>Jun/24</c:v>
                  </c:pt>
                  <c:pt idx="6">
                    <c:v>Jul/24</c:v>
                  </c:pt>
                  <c:pt idx="7">
                    <c:v>Ago/24</c:v>
                  </c:pt>
                  <c:pt idx="8">
                    <c:v>Set/24</c:v>
                  </c:pt>
                  <c:pt idx="9">
                    <c:v>Out/24</c:v>
                  </c:pt>
                  <c:pt idx="10">
                    <c:v>Nov/24</c:v>
                  </c:pt>
                  <c:pt idx="11">
                    <c:v>Dez/24</c:v>
                  </c:pt>
                  <c:pt idx="12">
                    <c:v>Jan/25</c:v>
                  </c:pt>
                  <c:pt idx="13">
                    <c:v>Fev/25</c:v>
                  </c:pt>
                  <c:pt idx="14">
                    <c:v>Mar/25</c:v>
                  </c:pt>
                  <c:pt idx="15">
                    <c:v>Abr/25</c:v>
                  </c:pt>
                  <c:pt idx="16">
                    <c:v>Mai/25</c:v>
                  </c:pt>
                  <c:pt idx="17">
                    <c:v>Jun/25</c:v>
                  </c:pt>
                  <c:pt idx="18">
                    <c:v>Jul/25</c:v>
                  </c:pt>
                  <c:pt idx="19">
                    <c:v>Ago/25</c:v>
                  </c:pt>
                  <c:pt idx="20">
                    <c:v>Set/25</c:v>
                  </c:pt>
                  <c:pt idx="21">
                    <c:v>Out/25</c:v>
                  </c:pt>
                  <c:pt idx="22">
                    <c:v>Nov/25</c:v>
                  </c:pt>
                  <c:pt idx="23">
                    <c:v>Dez/25</c:v>
                  </c:pt>
                  <c:pt idx="24">
                    <c:v>Jan/26</c:v>
                  </c:pt>
                  <c:pt idx="25">
                    <c:v>Fev/26</c:v>
                  </c:pt>
                  <c:pt idx="26">
                    <c:v>Mar/26</c:v>
                  </c:pt>
                  <c:pt idx="27">
                    <c:v>Abr/26</c:v>
                  </c:pt>
                  <c:pt idx="28">
                    <c:v>Mai/26</c:v>
                  </c:pt>
                </c:lvl>
              </c:multiLvlStrCache>
            </c:multiLvlStr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0.96</c:v>
                </c:pt>
                <c:pt idx="1">
                  <c:v>0.8</c:v>
                </c:pt>
                <c:pt idx="2">
                  <c:v>0.85</c:v>
                </c:pt>
                <c:pt idx="3">
                  <c:v>0.89</c:v>
                </c:pt>
                <c:pt idx="4">
                  <c:v>0.84</c:v>
                </c:pt>
                <c:pt idx="5">
                  <c:v>0.79</c:v>
                </c:pt>
                <c:pt idx="6">
                  <c:v>0.91</c:v>
                </c:pt>
                <c:pt idx="7">
                  <c:v>0.87</c:v>
                </c:pt>
                <c:pt idx="8">
                  <c:v>0.84</c:v>
                </c:pt>
                <c:pt idx="9">
                  <c:v>1.04</c:v>
                </c:pt>
                <c:pt idx="10">
                  <c:v>1.05</c:v>
                </c:pt>
                <c:pt idx="11">
                  <c:v>0.93</c:v>
                </c:pt>
                <c:pt idx="12">
                  <c:v>1.01</c:v>
                </c:pt>
                <c:pt idx="13">
                  <c:v>0.99</c:v>
                </c:pt>
                <c:pt idx="14">
                  <c:v>0.96</c:v>
                </c:pt>
                <c:pt idx="15">
                  <c:v>1.06</c:v>
                </c:pt>
                <c:pt idx="16">
                  <c:v>1.14</c:v>
                </c:pt>
                <c:pt idx="17">
                  <c:v>1.1</c:v>
                </c:pt>
                <c:pt idx="18">
                  <c:v>1.28</c:v>
                </c:pt>
                <c:pt idx="19">
                  <c:v>1.16</c:v>
                </c:pt>
                <c:pt idx="20">
                  <c:v>1.22</c:v>
                </c:pt>
                <c:pt idx="21">
                  <c:v>1.28</c:v>
                </c:pt>
                <c:pt idx="22">
                  <c:v>1.05</c:v>
                </c:pt>
                <c:pt idx="23">
                  <c:v>1.23</c:v>
                </c:pt>
                <c:pt idx="24">
                  <c:v>1.17</c:v>
                </c:pt>
                <c:pt idx="25">
                  <c:v>0.99</c:v>
                </c:pt>
                <c:pt idx="26">
                  <c:v>1.22</c:v>
                </c:pt>
                <c:pt idx="27">
                  <c:v>1.1</c:v>
                </c:pt>
                <c:pt idx="28">
                  <c:v>1.07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F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37414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1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62020">
              <a:alpha val="7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9897F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2608"/>
            <a:ext cx="2377440" cy="9418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148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8A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Reunião Trimestral de Investimentos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411480" y="2331720"/>
            <a:ext cx="9144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Junho 2026</a:t>
            </a:r>
            <a:endParaRPr lang="en-US" sz="6000" dirty="0"/>
          </a:p>
        </p:txBody>
      </p:sp>
      <p:sp>
        <p:nvSpPr>
          <p:cNvPr id="8" name="Text 4"/>
          <p:cNvSpPr/>
          <p:nvPr/>
        </p:nvSpPr>
        <p:spPr>
          <a:xfrm>
            <a:off x="411480" y="358444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EC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 ·  Resultados  ·  Análise  ·  Próximos Passos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411480" y="4133088"/>
            <a:ext cx="4389120" cy="34747"/>
          </a:xfrm>
          <a:prstGeom prst="rect">
            <a:avLst/>
          </a:prstGeom>
          <a:solidFill>
            <a:srgbClr val="C8A733"/>
          </a:solidFill>
          <a:ln/>
        </p:spPr>
      </p:sp>
      <p:sp>
        <p:nvSpPr>
          <p:cNvPr id="10" name="Text 6"/>
          <p:cNvSpPr/>
          <p:nvPr/>
        </p:nvSpPr>
        <p:spPr>
          <a:xfrm>
            <a:off x="411480" y="4297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Denis Kinoshita  |  Assessor de Investimentos XP Unique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11480" y="466344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9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Braúna Ecossistema de Investimentos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686800" y="237744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1A3533"/>
          </a:solidFill>
          <a:ln/>
          <a:effectLst>
            <a:outerShdw sx="100000" sy="100000" kx="0" ky="0" algn="bl" rotWithShape="0" blurRad="152400" dist="38100" dir="2700000">
              <a:srgbClr val="000000">
                <a:alpha val="11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8823960" y="254203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Total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8823960" y="2834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R$ 6.065.475</a:t>
            </a:r>
            <a:endParaRPr lang="en-US" sz="2100" dirty="0"/>
          </a:p>
        </p:txBody>
      </p:sp>
      <p:sp>
        <p:nvSpPr>
          <p:cNvPr id="15" name="Shape 11"/>
          <p:cNvSpPr/>
          <p:nvPr/>
        </p:nvSpPr>
        <p:spPr>
          <a:xfrm>
            <a:off x="8823960" y="3401568"/>
            <a:ext cx="2788920" cy="20117"/>
          </a:xfrm>
          <a:prstGeom prst="rect">
            <a:avLst/>
          </a:prstGeom>
          <a:solidFill>
            <a:srgbClr val="29897F"/>
          </a:solidFill>
          <a:ln/>
        </p:spPr>
      </p:sp>
      <p:sp>
        <p:nvSpPr>
          <p:cNvPr id="16" name="Text 12"/>
          <p:cNvSpPr/>
          <p:nvPr/>
        </p:nvSpPr>
        <p:spPr>
          <a:xfrm>
            <a:off x="8823960" y="3474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A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Ref.: 29/05/2026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8823960" y="3749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A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Carteira XP Unique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8823960" y="40050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A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294954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8229600" y="6263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98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#AntecipeSeusSonhos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451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da Reunião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73152"/>
            <a:ext cx="804672" cy="8961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braunainvestimentos.com.br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Ref.: 29/05/2026  |  Conta 294954  |  XP Unique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47472" y="1170432"/>
            <a:ext cx="562356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12064" y="1389888"/>
            <a:ext cx="384048" cy="384048"/>
          </a:xfrm>
          <a:prstGeom prst="ellipse">
            <a:avLst/>
          </a:prstGeom>
          <a:solidFill>
            <a:srgbClr val="14514F"/>
          </a:solidFill>
          <a:ln/>
        </p:spPr>
      </p:sp>
      <p:sp>
        <p:nvSpPr>
          <p:cNvPr id="9" name="Text 6"/>
          <p:cNvSpPr/>
          <p:nvPr/>
        </p:nvSpPr>
        <p:spPr>
          <a:xfrm>
            <a:off x="512064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33272" y="12618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Macro &amp; Mercado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33272" y="1600200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SELIC, IPCA, câmbio e perspectivas para o 2º semestre 2026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47472" y="2098548"/>
            <a:ext cx="562356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12064" y="2318004"/>
            <a:ext cx="384048" cy="384048"/>
          </a:xfrm>
          <a:prstGeom prst="ellipse">
            <a:avLst/>
          </a:prstGeom>
          <a:solidFill>
            <a:srgbClr val="14514F"/>
          </a:solidFill>
          <a:ln/>
        </p:spPr>
      </p:sp>
      <p:sp>
        <p:nvSpPr>
          <p:cNvPr id="14" name="Text 11"/>
          <p:cNvSpPr/>
          <p:nvPr/>
        </p:nvSpPr>
        <p:spPr>
          <a:xfrm>
            <a:off x="512064" y="23180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33272" y="21899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do Patrimônio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33272" y="2528316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R$ 6,06 MM — evolução patrimonial e estatísticas dos últimos 24M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47472" y="3026664"/>
            <a:ext cx="562356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12064" y="3246120"/>
            <a:ext cx="384048" cy="384048"/>
          </a:xfrm>
          <a:prstGeom prst="ellipse">
            <a:avLst/>
          </a:prstGeom>
          <a:solidFill>
            <a:srgbClr val="14514F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033272" y="311810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Benchmarks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033272" y="3456432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Rentabilidade por classe vs CDI, Ibovespa e IPCA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47472" y="3954780"/>
            <a:ext cx="562356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12064" y="4174236"/>
            <a:ext cx="384048" cy="384048"/>
          </a:xfrm>
          <a:prstGeom prst="ellipse">
            <a:avLst/>
          </a:prstGeom>
          <a:solidFill>
            <a:srgbClr val="14514F"/>
          </a:solidFill>
          <a:ln/>
        </p:spPr>
      </p:sp>
      <p:sp>
        <p:nvSpPr>
          <p:cNvPr id="24" name="Text 21"/>
          <p:cNvSpPr/>
          <p:nvPr/>
        </p:nvSpPr>
        <p:spPr>
          <a:xfrm>
            <a:off x="512064" y="41742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033272" y="40462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da Carteira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033272" y="4384548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Alocação estratégica: 90,65% RV · 5,72% Pós-Fixado · 3,07% Inflação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47472" y="4882896"/>
            <a:ext cx="562356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12064" y="5102352"/>
            <a:ext cx="384048" cy="384048"/>
          </a:xfrm>
          <a:prstGeom prst="ellipse">
            <a:avLst/>
          </a:prstGeom>
          <a:solidFill>
            <a:srgbClr val="14514F"/>
          </a:solidFill>
          <a:ln/>
        </p:spPr>
      </p:sp>
      <p:sp>
        <p:nvSpPr>
          <p:cNvPr id="29" name="Text 26"/>
          <p:cNvSpPr/>
          <p:nvPr/>
        </p:nvSpPr>
        <p:spPr>
          <a:xfrm>
            <a:off x="512064" y="5102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033272" y="497433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Destaques: Renda Variável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1033272" y="5312664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performers, maiores posições e ações de atenção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47472" y="5811012"/>
            <a:ext cx="562356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512064" y="6030468"/>
            <a:ext cx="384048" cy="384048"/>
          </a:xfrm>
          <a:prstGeom prst="ellipse">
            <a:avLst/>
          </a:prstGeom>
          <a:solidFill>
            <a:srgbClr val="14514F"/>
          </a:solidFill>
          <a:ln/>
        </p:spPr>
      </p:sp>
      <p:sp>
        <p:nvSpPr>
          <p:cNvPr id="34" name="Text 31"/>
          <p:cNvSpPr/>
          <p:nvPr/>
        </p:nvSpPr>
        <p:spPr>
          <a:xfrm>
            <a:off x="512064" y="60304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033272" y="59024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Destaques: Renda Fixa &amp; Alt.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033272" y="6240780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CRA, CRI, debêntures incentivadas e BITI11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6236208" y="1170432"/>
            <a:ext cx="562356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00800" y="1389888"/>
            <a:ext cx="384048" cy="384048"/>
          </a:xfrm>
          <a:prstGeom prst="ellipse">
            <a:avLst/>
          </a:prstGeom>
          <a:solidFill>
            <a:srgbClr val="14514F"/>
          </a:solidFill>
          <a:ln/>
        </p:spPr>
      </p:sp>
      <p:sp>
        <p:nvSpPr>
          <p:cNvPr id="39" name="Text 36"/>
          <p:cNvSpPr/>
          <p:nvPr/>
        </p:nvSpPr>
        <p:spPr>
          <a:xfrm>
            <a:off x="6400800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6922008" y="12618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Risco &amp; Diagnóstico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6922008" y="1600200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Volatilidade 19,38% · concentração BBAS3+VALE3 = 67,76%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236208" y="2098548"/>
            <a:ext cx="562356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6400800" y="2318004"/>
            <a:ext cx="384048" cy="384048"/>
          </a:xfrm>
          <a:prstGeom prst="ellipse">
            <a:avLst/>
          </a:prstGeom>
          <a:solidFill>
            <a:srgbClr val="14514F"/>
          </a:solidFill>
          <a:ln/>
        </p:spPr>
      </p:sp>
      <p:sp>
        <p:nvSpPr>
          <p:cNvPr id="44" name="Text 41"/>
          <p:cNvSpPr/>
          <p:nvPr/>
        </p:nvSpPr>
        <p:spPr>
          <a:xfrm>
            <a:off x="6400800" y="23180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6922008" y="21899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Estruturação Financeira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6922008" y="2528316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Pirâmide financeira e status dos objetivos de vida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6236208" y="3026664"/>
            <a:ext cx="562356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6400800" y="3246120"/>
            <a:ext cx="384048" cy="384048"/>
          </a:xfrm>
          <a:prstGeom prst="ellipse">
            <a:avLst/>
          </a:prstGeom>
          <a:solidFill>
            <a:srgbClr val="14514F"/>
          </a:solidFill>
          <a:ln/>
        </p:spPr>
      </p:sp>
      <p:sp>
        <p:nvSpPr>
          <p:cNvPr id="49" name="Text 46"/>
          <p:cNvSpPr/>
          <p:nvPr/>
        </p:nvSpPr>
        <p:spPr>
          <a:xfrm>
            <a:off x="640080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6922008" y="311810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Estratégias &amp; Recomendações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6922008" y="3456432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Rebalanceamento, diversificação e oportunidades para o 2S26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6236208" y="3954780"/>
            <a:ext cx="562356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6400800" y="4174236"/>
            <a:ext cx="384048" cy="384048"/>
          </a:xfrm>
          <a:prstGeom prst="ellipse">
            <a:avLst/>
          </a:prstGeom>
          <a:solidFill>
            <a:srgbClr val="14514F"/>
          </a:solidFill>
          <a:ln/>
        </p:spPr>
      </p:sp>
      <p:sp>
        <p:nvSpPr>
          <p:cNvPr id="54" name="Text 51"/>
          <p:cNvSpPr/>
          <p:nvPr/>
        </p:nvSpPr>
        <p:spPr>
          <a:xfrm>
            <a:off x="6400800" y="41742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6922008" y="40462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Ecossistema Braúna</a:t>
            </a:r>
            <a:endParaRPr lang="en-US" sz="1200" dirty="0"/>
          </a:p>
        </p:txBody>
      </p:sp>
      <p:sp>
        <p:nvSpPr>
          <p:cNvPr id="56" name="Text 53"/>
          <p:cNvSpPr/>
          <p:nvPr/>
        </p:nvSpPr>
        <p:spPr>
          <a:xfrm>
            <a:off x="6922008" y="4384548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Stop Shop — soluções integradas para o seu patrimônio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6236208" y="4882896"/>
            <a:ext cx="562356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58" name="Shape 55"/>
          <p:cNvSpPr/>
          <p:nvPr/>
        </p:nvSpPr>
        <p:spPr>
          <a:xfrm>
            <a:off x="6400800" y="5102352"/>
            <a:ext cx="384048" cy="384048"/>
          </a:xfrm>
          <a:prstGeom prst="ellipse">
            <a:avLst/>
          </a:prstGeom>
          <a:solidFill>
            <a:srgbClr val="14514F"/>
          </a:solidFill>
          <a:ln/>
        </p:spPr>
      </p:sp>
      <p:sp>
        <p:nvSpPr>
          <p:cNvPr id="59" name="Text 56"/>
          <p:cNvSpPr/>
          <p:nvPr/>
        </p:nvSpPr>
        <p:spPr>
          <a:xfrm>
            <a:off x="6400800" y="5102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60" name="Text 57"/>
          <p:cNvSpPr/>
          <p:nvPr/>
        </p:nvSpPr>
        <p:spPr>
          <a:xfrm>
            <a:off x="6922008" y="497433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200" dirty="0"/>
          </a:p>
        </p:txBody>
      </p:sp>
      <p:sp>
        <p:nvSpPr>
          <p:cNvPr id="61" name="Text 58"/>
          <p:cNvSpPr/>
          <p:nvPr/>
        </p:nvSpPr>
        <p:spPr>
          <a:xfrm>
            <a:off x="6922008" y="5312664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Imediato · 30 dias · 90 dias — ações acordadas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451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Contexto Macro &amp; Mercado — Junho 2026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73152"/>
            <a:ext cx="804672" cy="8961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braunainvestimentos.com.br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Ref.: 29/05/2026  |  Conta 294954  |  XP Unique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115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que moldou a carteira no semestre e perspectivas para o 2S26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7472" y="1554480"/>
            <a:ext cx="2670048" cy="1664208"/>
          </a:xfrm>
          <a:prstGeom prst="roundRect">
            <a:avLst>
              <a:gd name="adj" fmla="val 6593"/>
            </a:avLst>
          </a:prstGeom>
          <a:solidFill>
            <a:srgbClr val="1A3533"/>
          </a:solidFill>
          <a:ln/>
          <a:effectLst>
            <a:outerShdw sx="100000" sy="100000" kx="0" ky="0" algn="bl" rotWithShape="0" blurRad="152400" dist="38100" dir="2700000">
              <a:srgbClr val="000000">
                <a:alpha val="11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12064" y="16733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SELIC Meta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12064" y="19202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E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86384" y="1920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13,25% a.a.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84632" y="23500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CE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queda em curso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00400" y="1554480"/>
            <a:ext cx="2670048" cy="1664208"/>
          </a:xfrm>
          <a:prstGeom prst="roundRect">
            <a:avLst>
              <a:gd name="adj" fmla="val 6593"/>
            </a:avLst>
          </a:prstGeom>
          <a:solidFill>
            <a:srgbClr val="1A3533"/>
          </a:solidFill>
          <a:ln/>
          <a:effectLst>
            <a:outerShdw sx="100000" sy="100000" kx="0" ky="0" algn="bl" rotWithShape="0" blurRad="152400" dist="38100" dir="2700000">
              <a:srgbClr val="000000">
                <a:alpha val="11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364992" y="16733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IPCA 12M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364992" y="19202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3639312" y="1920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4,72%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3337560" y="23500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CE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Acima do centro da meta (3%)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053328" y="1554480"/>
            <a:ext cx="2670048" cy="1664208"/>
          </a:xfrm>
          <a:prstGeom prst="roundRect">
            <a:avLst>
              <a:gd name="adj" fmla="val 6593"/>
            </a:avLst>
          </a:prstGeom>
          <a:solidFill>
            <a:srgbClr val="1A3533"/>
          </a:solidFill>
          <a:ln/>
          <a:effectLst>
            <a:outerShdw sx="100000" sy="100000" kx="0" ky="0" algn="bl" rotWithShape="0" blurRad="152400" dist="38100" dir="2700000">
              <a:srgbClr val="000000">
                <a:alpha val="11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217920" y="16733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/ BRL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217920" y="19202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98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492240" y="1920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R$ 5,62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190488" y="23500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CE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-11,42% em 12M — Real forte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906256" y="1554480"/>
            <a:ext cx="2670048" cy="1664208"/>
          </a:xfrm>
          <a:prstGeom prst="roundRect">
            <a:avLst>
              <a:gd name="adj" fmla="val 6593"/>
            </a:avLst>
          </a:prstGeom>
          <a:solidFill>
            <a:srgbClr val="1A3533"/>
          </a:solidFill>
          <a:ln/>
          <a:effectLst>
            <a:outerShdw sx="100000" sy="100000" kx="0" ky="0" algn="bl" rotWithShape="0" blurRad="152400" dist="38100" dir="2700000">
              <a:srgbClr val="000000">
                <a:alpha val="11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9070848" y="16733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Ibovespa 12M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9070848" y="19202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9345168" y="1920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+26,83%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9043416" y="23500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CE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 MSCI EM no período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47472" y="3337560"/>
            <a:ext cx="11448288" cy="3017520"/>
          </a:xfrm>
          <a:prstGeom prst="roundRect">
            <a:avLst>
              <a:gd name="adj" fmla="val 3636"/>
            </a:avLst>
          </a:prstGeom>
          <a:solidFill>
            <a:srgbClr val="1A3533"/>
          </a:solidFill>
          <a:ln/>
        </p:spPr>
      </p:sp>
      <p:sp>
        <p:nvSpPr>
          <p:cNvPr id="29" name="Text 26"/>
          <p:cNvSpPr/>
          <p:nvPr/>
        </p:nvSpPr>
        <p:spPr>
          <a:xfrm>
            <a:off x="548640" y="345643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Leituras-chave para a carteira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530352" y="3959352"/>
            <a:ext cx="182880" cy="182880"/>
          </a:xfrm>
          <a:prstGeom prst="ellipse">
            <a:avLst/>
          </a:prstGeom>
          <a:solidFill>
            <a:srgbClr val="3EB8A8"/>
          </a:solidFill>
          <a:ln/>
        </p:spPr>
      </p:sp>
      <p:sp>
        <p:nvSpPr>
          <p:cNvPr id="31" name="Text 28"/>
          <p:cNvSpPr/>
          <p:nvPr/>
        </p:nvSpPr>
        <p:spPr>
          <a:xfrm>
            <a:off x="841248" y="3895344"/>
            <a:ext cx="10835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Fixa: </a:t>
            </a:r>
            <a:pPr indent="0" marL="0">
              <a:buNone/>
            </a:pPr>
            <a:r>
              <a:rPr lang="en-US" sz="1100" dirty="0">
                <a:solidFill>
                  <a:srgbClr val="C8E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SELIC a 13,25% e expectativa de queda gradual, prefixados longos e IPCA+ oferecem janela de travagem de taxas elevadas. Posição atual (8,79%) está sublocada — há espaço para ampliar.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30352" y="4526280"/>
            <a:ext cx="182880" cy="182880"/>
          </a:xfrm>
          <a:prstGeom prst="ellipse">
            <a:avLst/>
          </a:prstGeom>
          <a:solidFill>
            <a:srgbClr val="C8A733"/>
          </a:solidFill>
          <a:ln/>
        </p:spPr>
      </p:sp>
      <p:sp>
        <p:nvSpPr>
          <p:cNvPr id="33" name="Text 30"/>
          <p:cNvSpPr/>
          <p:nvPr/>
        </p:nvSpPr>
        <p:spPr>
          <a:xfrm>
            <a:off x="841248" y="4462272"/>
            <a:ext cx="10835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Variável: </a:t>
            </a:r>
            <a:pPr indent="0" marL="0">
              <a:buNone/>
            </a:pPr>
            <a:r>
              <a:rPr lang="en-US" sz="1100" dirty="0">
                <a:solidFill>
                  <a:srgbClr val="C8E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Ibovespa +26,83% em 12M mostra mercado aquecido. A carteira acompanhou apenas +6,63% — forte concentração em BBAS3 (-6,52% ano) e opções vendidas penalizaram o resultado.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30352" y="5093208"/>
            <a:ext cx="182880" cy="18288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35" name="Text 32"/>
          <p:cNvSpPr/>
          <p:nvPr/>
        </p:nvSpPr>
        <p:spPr>
          <a:xfrm>
            <a:off x="841248" y="5029200"/>
            <a:ext cx="10835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Câmbio: </a:t>
            </a:r>
            <a:pPr indent="0" marL="0">
              <a:buNone/>
            </a:pPr>
            <a:r>
              <a:rPr lang="en-US" sz="1100" dirty="0">
                <a:solidFill>
                  <a:srgbClr val="C8E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Dólar caiu -11,42% em 12M — BDRs sofreram efeito cambial adverso. Posições internacionais (AAPL34 +49,97% em 24M; GOGL34 +104,71%) mostram resiliência mesmo com câmbio desfavorável.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530352" y="5660136"/>
            <a:ext cx="182880" cy="182880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37" name="Text 34"/>
          <p:cNvSpPr/>
          <p:nvPr/>
        </p:nvSpPr>
        <p:spPr>
          <a:xfrm>
            <a:off x="841248" y="5596128"/>
            <a:ext cx="10835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 2S26: </a:t>
            </a:r>
            <a:pPr indent="0" marL="0">
              <a:buNone/>
            </a:pPr>
            <a:r>
              <a:rPr lang="en-US" sz="1100" dirty="0">
                <a:solidFill>
                  <a:srgbClr val="C8E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de juros favorece renda variável e fundos de infra. Rebalanceamento parcial de RV concentrada para diversificação setorial pode reduzir volatilidade sem perder upside.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451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Visão Geral do Patrimônio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73152"/>
            <a:ext cx="804672" cy="8961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braunainvestimentos.com.br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Ref.: 29/05/2026  |  Conta 294954  |  XP Unique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47472" y="1170432"/>
            <a:ext cx="2176272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84632" y="130759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Total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38912" y="155448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R$ 6,07 MM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38912" y="203911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Bruto em 29/05/2026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679192" y="1170432"/>
            <a:ext cx="2176272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816352" y="130759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Rent. Mês (Mai/26)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770632" y="155448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-4,29%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770632" y="203911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CDI: +1,07% no mês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010912" y="1170432"/>
            <a:ext cx="2176272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148072" y="130759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Mês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102352" y="155448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-R$ 272K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5102352" y="203911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BBAS3+VALE3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342632" y="1170432"/>
            <a:ext cx="2176272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479792" y="130759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Rent. 12 Meses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434072" y="155448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+3,19%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7434072" y="203911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21,64% do CDI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9674352" y="1170432"/>
            <a:ext cx="2176272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9811512" y="130759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Rent. 24 Meses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9765792" y="155448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+1,57%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9765792" y="203911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5,57% do CDI</a:t>
            </a:r>
            <a:endParaRPr lang="en-US" sz="95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347472" y="2514600"/>
          <a:ext cx="749808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" name="Shape 24"/>
          <p:cNvSpPr/>
          <p:nvPr/>
        </p:nvSpPr>
        <p:spPr>
          <a:xfrm>
            <a:off x="8119872" y="2514600"/>
            <a:ext cx="37033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29" name="Text 25"/>
          <p:cNvSpPr/>
          <p:nvPr/>
        </p:nvSpPr>
        <p:spPr>
          <a:xfrm>
            <a:off x="8257032" y="25694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Positivos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10515600" y="2551176"/>
            <a:ext cx="11704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8257032" y="27889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últimos 24 meses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8119872" y="3099816"/>
            <a:ext cx="37033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33" name="Text 29"/>
          <p:cNvSpPr/>
          <p:nvPr/>
        </p:nvSpPr>
        <p:spPr>
          <a:xfrm>
            <a:off x="8257032" y="31546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Máx. Mensal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10515600" y="3136392"/>
            <a:ext cx="11704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+10,23%</a:t>
            </a:r>
            <a:endParaRPr lang="en-US" sz="1400" dirty="0"/>
          </a:p>
        </p:txBody>
      </p:sp>
      <p:sp>
        <p:nvSpPr>
          <p:cNvPr id="35" name="Text 31"/>
          <p:cNvSpPr/>
          <p:nvPr/>
        </p:nvSpPr>
        <p:spPr>
          <a:xfrm>
            <a:off x="8257032" y="337413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janeiro/2026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8119872" y="3685032"/>
            <a:ext cx="37033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37" name="Text 33"/>
          <p:cNvSpPr/>
          <p:nvPr/>
        </p:nvSpPr>
        <p:spPr>
          <a:xfrm>
            <a:off x="8257032" y="3739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Mín. Mensal</a:t>
            </a:r>
            <a:endParaRPr lang="en-US" sz="950" dirty="0"/>
          </a:p>
        </p:txBody>
      </p:sp>
      <p:sp>
        <p:nvSpPr>
          <p:cNvPr id="38" name="Text 34"/>
          <p:cNvSpPr/>
          <p:nvPr/>
        </p:nvSpPr>
        <p:spPr>
          <a:xfrm>
            <a:off x="10515600" y="3721608"/>
            <a:ext cx="11704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-11,28%</a:t>
            </a:r>
            <a:endParaRPr lang="en-US" sz="1400" dirty="0"/>
          </a:p>
        </p:txBody>
      </p:sp>
      <p:sp>
        <p:nvSpPr>
          <p:cNvPr id="39" name="Text 35"/>
          <p:cNvSpPr/>
          <p:nvPr/>
        </p:nvSpPr>
        <p:spPr>
          <a:xfrm>
            <a:off x="8257032" y="395935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maio/2025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8119872" y="4270248"/>
            <a:ext cx="37033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41" name="Text 37"/>
          <p:cNvSpPr/>
          <p:nvPr/>
        </p:nvSpPr>
        <p:spPr>
          <a:xfrm>
            <a:off x="8257032" y="43251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Acima do CDI (24M)</a:t>
            </a:r>
            <a:endParaRPr lang="en-US" sz="950" dirty="0"/>
          </a:p>
        </p:txBody>
      </p:sp>
      <p:sp>
        <p:nvSpPr>
          <p:cNvPr id="42" name="Text 38"/>
          <p:cNvSpPr/>
          <p:nvPr/>
        </p:nvSpPr>
        <p:spPr>
          <a:xfrm>
            <a:off x="10515600" y="4306824"/>
            <a:ext cx="11704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meses</a:t>
            </a:r>
            <a:endParaRPr lang="en-US" sz="1400" dirty="0"/>
          </a:p>
        </p:txBody>
      </p:sp>
      <p:sp>
        <p:nvSpPr>
          <p:cNvPr id="43" name="Text 39"/>
          <p:cNvSpPr/>
          <p:nvPr/>
        </p:nvSpPr>
        <p:spPr>
          <a:xfrm>
            <a:off x="8257032" y="454456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meses abaixo</a:t>
            </a:r>
            <a:endParaRPr lang="en-US" sz="900" dirty="0"/>
          </a:p>
        </p:txBody>
      </p:sp>
      <p:sp>
        <p:nvSpPr>
          <p:cNvPr id="44" name="Shape 40"/>
          <p:cNvSpPr/>
          <p:nvPr/>
        </p:nvSpPr>
        <p:spPr>
          <a:xfrm>
            <a:off x="8119872" y="4855464"/>
            <a:ext cx="37033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45" name="Text 41"/>
          <p:cNvSpPr/>
          <p:nvPr/>
        </p:nvSpPr>
        <p:spPr>
          <a:xfrm>
            <a:off x="8257032" y="49103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Volatilidade 12M</a:t>
            </a:r>
            <a:endParaRPr lang="en-US" sz="950" dirty="0"/>
          </a:p>
        </p:txBody>
      </p:sp>
      <p:sp>
        <p:nvSpPr>
          <p:cNvPr id="46" name="Text 42"/>
          <p:cNvSpPr/>
          <p:nvPr/>
        </p:nvSpPr>
        <p:spPr>
          <a:xfrm>
            <a:off x="10515600" y="4892040"/>
            <a:ext cx="11704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19,38%</a:t>
            </a:r>
            <a:endParaRPr lang="en-US" sz="1400" dirty="0"/>
          </a:p>
        </p:txBody>
      </p:sp>
      <p:sp>
        <p:nvSpPr>
          <p:cNvPr id="47" name="Text 43"/>
          <p:cNvSpPr/>
          <p:nvPr/>
        </p:nvSpPr>
        <p:spPr>
          <a:xfrm>
            <a:off x="8257032" y="512978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arrojado</a:t>
            </a:r>
            <a:endParaRPr lang="en-US" sz="900" dirty="0"/>
          </a:p>
        </p:txBody>
      </p:sp>
      <p:sp>
        <p:nvSpPr>
          <p:cNvPr id="48" name="Shape 44"/>
          <p:cNvSpPr/>
          <p:nvPr/>
        </p:nvSpPr>
        <p:spPr>
          <a:xfrm>
            <a:off x="8119872" y="5440680"/>
            <a:ext cx="37033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49" name="Text 45"/>
          <p:cNvSpPr/>
          <p:nvPr/>
        </p:nvSpPr>
        <p:spPr>
          <a:xfrm>
            <a:off x="8257032" y="549554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Volatilidade 24M</a:t>
            </a:r>
            <a:endParaRPr lang="en-US" sz="950" dirty="0"/>
          </a:p>
        </p:txBody>
      </p:sp>
      <p:sp>
        <p:nvSpPr>
          <p:cNvPr id="50" name="Text 46"/>
          <p:cNvSpPr/>
          <p:nvPr/>
        </p:nvSpPr>
        <p:spPr>
          <a:xfrm>
            <a:off x="10515600" y="5477256"/>
            <a:ext cx="11704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17,94%</a:t>
            </a:r>
            <a:endParaRPr lang="en-US" sz="1400" dirty="0"/>
          </a:p>
        </p:txBody>
      </p:sp>
      <p:sp>
        <p:nvSpPr>
          <p:cNvPr id="51" name="Text 47"/>
          <p:cNvSpPr/>
          <p:nvPr/>
        </p:nvSpPr>
        <p:spPr>
          <a:xfrm>
            <a:off x="8257032" y="571500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histór. de alta vol.</a:t>
            </a:r>
            <a:endParaRPr lang="en-US" sz="900" dirty="0"/>
          </a:p>
        </p:txBody>
      </p:sp>
      <p:sp>
        <p:nvSpPr>
          <p:cNvPr id="52" name="Text 48"/>
          <p:cNvSpPr/>
          <p:nvPr/>
        </p:nvSpPr>
        <p:spPr>
          <a:xfrm>
            <a:off x="347472" y="6053328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2024: -4,98%  |  2025: +7,72%  |  2026 (até mai): -1,43%  |  Acum. desde início: +101,36%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451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Performance &amp; Benchmarks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73152"/>
            <a:ext cx="804672" cy="8961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braunainvestimentos.com.br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Ref.: 29/05/2026  |  Conta 294954  |  XP Unique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1155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Rentabilidade por classe e benchmarks — posição 29/05/2026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47472" y="1481328"/>
          <a:ext cx="5943600" cy="23957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6355080" y="1481328"/>
          <a:ext cx="5486400" cy="23957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Shape 5"/>
          <p:cNvSpPr/>
          <p:nvPr/>
        </p:nvSpPr>
        <p:spPr>
          <a:xfrm>
            <a:off x="347472" y="4005072"/>
            <a:ext cx="11475720" cy="2176272"/>
          </a:xfrm>
          <a:prstGeom prst="roundRect">
            <a:avLst>
              <a:gd name="adj" fmla="val 42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347472" y="4005072"/>
            <a:ext cx="11475720" cy="384048"/>
          </a:xfrm>
          <a:prstGeom prst="roundRect">
            <a:avLst>
              <a:gd name="adj" fmla="val 23810"/>
            </a:avLst>
          </a:prstGeom>
          <a:solidFill>
            <a:srgbClr val="14514F"/>
          </a:solidFill>
          <a:ln/>
        </p:spPr>
      </p:sp>
      <p:sp>
        <p:nvSpPr>
          <p:cNvPr id="12" name="Text 7"/>
          <p:cNvSpPr/>
          <p:nvPr/>
        </p:nvSpPr>
        <p:spPr>
          <a:xfrm>
            <a:off x="475488" y="40325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2103120" y="40325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Atual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3154680" y="40325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%CDI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4160520" y="40325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5212080" y="40325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%CDI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6217920" y="40325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12M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7269480" y="40325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%CDI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8321040" y="40325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24M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9372600" y="40325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%CDI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347472" y="4462272"/>
            <a:ext cx="11475720" cy="237744"/>
          </a:xfrm>
          <a:prstGeom prst="rect">
            <a:avLst/>
          </a:prstGeom>
          <a:solidFill>
            <a:srgbClr val="F8FBFA"/>
          </a:solidFill>
          <a:ln/>
        </p:spPr>
      </p:sp>
      <p:sp>
        <p:nvSpPr>
          <p:cNvPr id="22" name="Text 17"/>
          <p:cNvSpPr/>
          <p:nvPr/>
        </p:nvSpPr>
        <p:spPr>
          <a:xfrm>
            <a:off x="475488" y="44897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Portfólio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2103120" y="44897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-4,29%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3154680" y="44897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-399,85%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4160520" y="44897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-1,43%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5212080" y="44897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-25,22%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6217920" y="44897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3,19%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7269480" y="44897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21,64%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8321040" y="44897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1,57%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9372600" y="44897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5,57%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347472" y="4700016"/>
            <a:ext cx="1147572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7"/>
          <p:cNvSpPr/>
          <p:nvPr/>
        </p:nvSpPr>
        <p:spPr>
          <a:xfrm>
            <a:off x="475488" y="47274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CDI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2103120" y="47274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1,07%</a:t>
            </a:r>
            <a:endParaRPr lang="en-US" sz="950" dirty="0"/>
          </a:p>
        </p:txBody>
      </p:sp>
      <p:sp>
        <p:nvSpPr>
          <p:cNvPr id="34" name="Text 29"/>
          <p:cNvSpPr/>
          <p:nvPr/>
        </p:nvSpPr>
        <p:spPr>
          <a:xfrm>
            <a:off x="3154680" y="47274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35" name="Text 30"/>
          <p:cNvSpPr/>
          <p:nvPr/>
        </p:nvSpPr>
        <p:spPr>
          <a:xfrm>
            <a:off x="4160520" y="47274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5,66%</a:t>
            </a:r>
            <a:endParaRPr lang="en-US" sz="950" dirty="0"/>
          </a:p>
        </p:txBody>
      </p:sp>
      <p:sp>
        <p:nvSpPr>
          <p:cNvPr id="36" name="Text 31"/>
          <p:cNvSpPr/>
          <p:nvPr/>
        </p:nvSpPr>
        <p:spPr>
          <a:xfrm>
            <a:off x="5212080" y="47274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37" name="Text 32"/>
          <p:cNvSpPr/>
          <p:nvPr/>
        </p:nvSpPr>
        <p:spPr>
          <a:xfrm>
            <a:off x="6217920" y="47274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14,76%</a:t>
            </a:r>
            <a:endParaRPr lang="en-US" sz="950" dirty="0"/>
          </a:p>
        </p:txBody>
      </p:sp>
      <p:sp>
        <p:nvSpPr>
          <p:cNvPr id="38" name="Text 33"/>
          <p:cNvSpPr/>
          <p:nvPr/>
        </p:nvSpPr>
        <p:spPr>
          <a:xfrm>
            <a:off x="7269480" y="47274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39" name="Text 34"/>
          <p:cNvSpPr/>
          <p:nvPr/>
        </p:nvSpPr>
        <p:spPr>
          <a:xfrm>
            <a:off x="8321040" y="47274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28,28%</a:t>
            </a:r>
            <a:endParaRPr lang="en-US" sz="950" dirty="0"/>
          </a:p>
        </p:txBody>
      </p:sp>
      <p:sp>
        <p:nvSpPr>
          <p:cNvPr id="40" name="Text 35"/>
          <p:cNvSpPr/>
          <p:nvPr/>
        </p:nvSpPr>
        <p:spPr>
          <a:xfrm>
            <a:off x="9372600" y="47274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347472" y="4937760"/>
            <a:ext cx="11475720" cy="237744"/>
          </a:xfrm>
          <a:prstGeom prst="rect">
            <a:avLst/>
          </a:prstGeom>
          <a:solidFill>
            <a:srgbClr val="F8FBFA"/>
          </a:solidFill>
          <a:ln/>
        </p:spPr>
      </p:sp>
      <p:sp>
        <p:nvSpPr>
          <p:cNvPr id="42" name="Text 37"/>
          <p:cNvSpPr/>
          <p:nvPr/>
        </p:nvSpPr>
        <p:spPr>
          <a:xfrm>
            <a:off x="475488" y="49651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Ibovespa</a:t>
            </a:r>
            <a:endParaRPr lang="en-US" sz="950" dirty="0"/>
          </a:p>
        </p:txBody>
      </p:sp>
      <p:sp>
        <p:nvSpPr>
          <p:cNvPr id="43" name="Text 38"/>
          <p:cNvSpPr/>
          <p:nvPr/>
        </p:nvSpPr>
        <p:spPr>
          <a:xfrm>
            <a:off x="2103120" y="49651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-7,22%</a:t>
            </a:r>
            <a:endParaRPr lang="en-US" sz="950" dirty="0"/>
          </a:p>
        </p:txBody>
      </p:sp>
      <p:sp>
        <p:nvSpPr>
          <p:cNvPr id="44" name="Text 39"/>
          <p:cNvSpPr/>
          <p:nvPr/>
        </p:nvSpPr>
        <p:spPr>
          <a:xfrm>
            <a:off x="3154680" y="49651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45" name="Text 40"/>
          <p:cNvSpPr/>
          <p:nvPr/>
        </p:nvSpPr>
        <p:spPr>
          <a:xfrm>
            <a:off x="4160520" y="49651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7,86%</a:t>
            </a:r>
            <a:endParaRPr lang="en-US" sz="950" dirty="0"/>
          </a:p>
        </p:txBody>
      </p:sp>
      <p:sp>
        <p:nvSpPr>
          <p:cNvPr id="46" name="Text 41"/>
          <p:cNvSpPr/>
          <p:nvPr/>
        </p:nvSpPr>
        <p:spPr>
          <a:xfrm>
            <a:off x="5212080" y="49651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47" name="Text 42"/>
          <p:cNvSpPr/>
          <p:nvPr/>
        </p:nvSpPr>
        <p:spPr>
          <a:xfrm>
            <a:off x="6217920" y="49651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26,83%</a:t>
            </a:r>
            <a:endParaRPr lang="en-US" sz="950" dirty="0"/>
          </a:p>
        </p:txBody>
      </p:sp>
      <p:sp>
        <p:nvSpPr>
          <p:cNvPr id="48" name="Text 43"/>
          <p:cNvSpPr/>
          <p:nvPr/>
        </p:nvSpPr>
        <p:spPr>
          <a:xfrm>
            <a:off x="7269480" y="49651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49" name="Text 44"/>
          <p:cNvSpPr/>
          <p:nvPr/>
        </p:nvSpPr>
        <p:spPr>
          <a:xfrm>
            <a:off x="8321040" y="49651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42,33%</a:t>
            </a:r>
            <a:endParaRPr lang="en-US" sz="950" dirty="0"/>
          </a:p>
        </p:txBody>
      </p:sp>
      <p:sp>
        <p:nvSpPr>
          <p:cNvPr id="50" name="Text 45"/>
          <p:cNvSpPr/>
          <p:nvPr/>
        </p:nvSpPr>
        <p:spPr>
          <a:xfrm>
            <a:off x="9372600" y="49651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51" name="Shape 46"/>
          <p:cNvSpPr/>
          <p:nvPr/>
        </p:nvSpPr>
        <p:spPr>
          <a:xfrm>
            <a:off x="347472" y="5175504"/>
            <a:ext cx="1147572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47"/>
          <p:cNvSpPr/>
          <p:nvPr/>
        </p:nvSpPr>
        <p:spPr>
          <a:xfrm>
            <a:off x="475488" y="52029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IPCA</a:t>
            </a:r>
            <a:endParaRPr lang="en-US" sz="950" dirty="0"/>
          </a:p>
        </p:txBody>
      </p:sp>
      <p:sp>
        <p:nvSpPr>
          <p:cNvPr id="53" name="Text 48"/>
          <p:cNvSpPr/>
          <p:nvPr/>
        </p:nvSpPr>
        <p:spPr>
          <a:xfrm>
            <a:off x="2103120" y="52029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0,58%</a:t>
            </a:r>
            <a:endParaRPr lang="en-US" sz="950" dirty="0"/>
          </a:p>
        </p:txBody>
      </p:sp>
      <p:sp>
        <p:nvSpPr>
          <p:cNvPr id="54" name="Text 49"/>
          <p:cNvSpPr/>
          <p:nvPr/>
        </p:nvSpPr>
        <p:spPr>
          <a:xfrm>
            <a:off x="3154680" y="52029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55" name="Text 50"/>
          <p:cNvSpPr/>
          <p:nvPr/>
        </p:nvSpPr>
        <p:spPr>
          <a:xfrm>
            <a:off x="4160520" y="52029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3,20%</a:t>
            </a:r>
            <a:endParaRPr lang="en-US" sz="950" dirty="0"/>
          </a:p>
        </p:txBody>
      </p:sp>
      <p:sp>
        <p:nvSpPr>
          <p:cNvPr id="56" name="Text 51"/>
          <p:cNvSpPr/>
          <p:nvPr/>
        </p:nvSpPr>
        <p:spPr>
          <a:xfrm>
            <a:off x="5212080" y="52029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57" name="Text 52"/>
          <p:cNvSpPr/>
          <p:nvPr/>
        </p:nvSpPr>
        <p:spPr>
          <a:xfrm>
            <a:off x="6217920" y="52029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4,72%</a:t>
            </a:r>
            <a:endParaRPr lang="en-US" sz="950" dirty="0"/>
          </a:p>
        </p:txBody>
      </p:sp>
      <p:sp>
        <p:nvSpPr>
          <p:cNvPr id="58" name="Text 53"/>
          <p:cNvSpPr/>
          <p:nvPr/>
        </p:nvSpPr>
        <p:spPr>
          <a:xfrm>
            <a:off x="7269480" y="52029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59" name="Text 54"/>
          <p:cNvSpPr/>
          <p:nvPr/>
        </p:nvSpPr>
        <p:spPr>
          <a:xfrm>
            <a:off x="8321040" y="52029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10,30%</a:t>
            </a:r>
            <a:endParaRPr lang="en-US" sz="950" dirty="0"/>
          </a:p>
        </p:txBody>
      </p:sp>
      <p:sp>
        <p:nvSpPr>
          <p:cNvPr id="60" name="Text 55"/>
          <p:cNvSpPr/>
          <p:nvPr/>
        </p:nvSpPr>
        <p:spPr>
          <a:xfrm>
            <a:off x="9372600" y="52029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61" name="Shape 56"/>
          <p:cNvSpPr/>
          <p:nvPr/>
        </p:nvSpPr>
        <p:spPr>
          <a:xfrm>
            <a:off x="347472" y="5413248"/>
            <a:ext cx="11475720" cy="237744"/>
          </a:xfrm>
          <a:prstGeom prst="rect">
            <a:avLst/>
          </a:prstGeom>
          <a:solidFill>
            <a:srgbClr val="F8FBFA"/>
          </a:solidFill>
          <a:ln/>
        </p:spPr>
      </p:sp>
      <p:sp>
        <p:nvSpPr>
          <p:cNvPr id="62" name="Text 57"/>
          <p:cNvSpPr/>
          <p:nvPr/>
        </p:nvSpPr>
        <p:spPr>
          <a:xfrm>
            <a:off x="475488" y="54406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 Fixado</a:t>
            </a:r>
            <a:endParaRPr lang="en-US" sz="950" dirty="0"/>
          </a:p>
        </p:txBody>
      </p:sp>
      <p:sp>
        <p:nvSpPr>
          <p:cNvPr id="63" name="Text 58"/>
          <p:cNvSpPr/>
          <p:nvPr/>
        </p:nvSpPr>
        <p:spPr>
          <a:xfrm>
            <a:off x="2103120" y="54406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1,07%</a:t>
            </a:r>
            <a:endParaRPr lang="en-US" sz="950" dirty="0"/>
          </a:p>
        </p:txBody>
      </p:sp>
      <p:sp>
        <p:nvSpPr>
          <p:cNvPr id="64" name="Text 59"/>
          <p:cNvSpPr/>
          <p:nvPr/>
        </p:nvSpPr>
        <p:spPr>
          <a:xfrm>
            <a:off x="3154680" y="54406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99,96%</a:t>
            </a:r>
            <a:endParaRPr lang="en-US" sz="950" dirty="0"/>
          </a:p>
        </p:txBody>
      </p:sp>
      <p:sp>
        <p:nvSpPr>
          <p:cNvPr id="65" name="Text 60"/>
          <p:cNvSpPr/>
          <p:nvPr/>
        </p:nvSpPr>
        <p:spPr>
          <a:xfrm>
            <a:off x="4160520" y="54406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3,90%</a:t>
            </a:r>
            <a:endParaRPr lang="en-US" sz="950" dirty="0"/>
          </a:p>
        </p:txBody>
      </p:sp>
      <p:sp>
        <p:nvSpPr>
          <p:cNvPr id="66" name="Text 61"/>
          <p:cNvSpPr/>
          <p:nvPr/>
        </p:nvSpPr>
        <p:spPr>
          <a:xfrm>
            <a:off x="5212080" y="54406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68,80%</a:t>
            </a:r>
            <a:endParaRPr lang="en-US" sz="950" dirty="0"/>
          </a:p>
        </p:txBody>
      </p:sp>
      <p:sp>
        <p:nvSpPr>
          <p:cNvPr id="67" name="Text 62"/>
          <p:cNvSpPr/>
          <p:nvPr/>
        </p:nvSpPr>
        <p:spPr>
          <a:xfrm>
            <a:off x="6217920" y="54406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14,33%</a:t>
            </a:r>
            <a:endParaRPr lang="en-US" sz="950" dirty="0"/>
          </a:p>
        </p:txBody>
      </p:sp>
      <p:sp>
        <p:nvSpPr>
          <p:cNvPr id="68" name="Text 63"/>
          <p:cNvSpPr/>
          <p:nvPr/>
        </p:nvSpPr>
        <p:spPr>
          <a:xfrm>
            <a:off x="7269480" y="54406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103,92%</a:t>
            </a:r>
            <a:endParaRPr lang="en-US" sz="950" dirty="0"/>
          </a:p>
        </p:txBody>
      </p:sp>
      <p:sp>
        <p:nvSpPr>
          <p:cNvPr id="69" name="Text 64"/>
          <p:cNvSpPr/>
          <p:nvPr/>
        </p:nvSpPr>
        <p:spPr>
          <a:xfrm>
            <a:off x="8321040" y="54406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20,58%</a:t>
            </a:r>
            <a:endParaRPr lang="en-US" sz="950" dirty="0"/>
          </a:p>
        </p:txBody>
      </p:sp>
      <p:sp>
        <p:nvSpPr>
          <p:cNvPr id="70" name="Text 65"/>
          <p:cNvSpPr/>
          <p:nvPr/>
        </p:nvSpPr>
        <p:spPr>
          <a:xfrm>
            <a:off x="9372600" y="54406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103,92%</a:t>
            </a:r>
            <a:endParaRPr lang="en-US" sz="950" dirty="0"/>
          </a:p>
        </p:txBody>
      </p:sp>
      <p:sp>
        <p:nvSpPr>
          <p:cNvPr id="71" name="Shape 66"/>
          <p:cNvSpPr/>
          <p:nvPr/>
        </p:nvSpPr>
        <p:spPr>
          <a:xfrm>
            <a:off x="347472" y="5650992"/>
            <a:ext cx="1147572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Text 67"/>
          <p:cNvSpPr/>
          <p:nvPr/>
        </p:nvSpPr>
        <p:spPr>
          <a:xfrm>
            <a:off x="475488" y="56784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Inflação</a:t>
            </a:r>
            <a:endParaRPr lang="en-US" sz="950" dirty="0"/>
          </a:p>
        </p:txBody>
      </p:sp>
      <p:sp>
        <p:nvSpPr>
          <p:cNvPr id="73" name="Text 68"/>
          <p:cNvSpPr/>
          <p:nvPr/>
        </p:nvSpPr>
        <p:spPr>
          <a:xfrm>
            <a:off x="2103120" y="56784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1,06%</a:t>
            </a:r>
            <a:endParaRPr lang="en-US" sz="950" dirty="0"/>
          </a:p>
        </p:txBody>
      </p:sp>
      <p:sp>
        <p:nvSpPr>
          <p:cNvPr id="74" name="Text 69"/>
          <p:cNvSpPr/>
          <p:nvPr/>
        </p:nvSpPr>
        <p:spPr>
          <a:xfrm>
            <a:off x="3154680" y="56784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98,47%</a:t>
            </a:r>
            <a:endParaRPr lang="en-US" sz="950" dirty="0"/>
          </a:p>
        </p:txBody>
      </p:sp>
      <p:sp>
        <p:nvSpPr>
          <p:cNvPr id="75" name="Text 70"/>
          <p:cNvSpPr/>
          <p:nvPr/>
        </p:nvSpPr>
        <p:spPr>
          <a:xfrm>
            <a:off x="4160520" y="56784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6,04%</a:t>
            </a:r>
            <a:endParaRPr lang="en-US" sz="950" dirty="0"/>
          </a:p>
        </p:txBody>
      </p:sp>
      <p:sp>
        <p:nvSpPr>
          <p:cNvPr id="76" name="Text 71"/>
          <p:cNvSpPr/>
          <p:nvPr/>
        </p:nvSpPr>
        <p:spPr>
          <a:xfrm>
            <a:off x="5212080" y="56784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106,62%</a:t>
            </a:r>
            <a:endParaRPr lang="en-US" sz="950" dirty="0"/>
          </a:p>
        </p:txBody>
      </p:sp>
      <p:sp>
        <p:nvSpPr>
          <p:cNvPr id="77" name="Text 72"/>
          <p:cNvSpPr/>
          <p:nvPr/>
        </p:nvSpPr>
        <p:spPr>
          <a:xfrm>
            <a:off x="6217920" y="56784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17,98%</a:t>
            </a:r>
            <a:endParaRPr lang="en-US" sz="950" dirty="0"/>
          </a:p>
        </p:txBody>
      </p:sp>
      <p:sp>
        <p:nvSpPr>
          <p:cNvPr id="78" name="Text 73"/>
          <p:cNvSpPr/>
          <p:nvPr/>
        </p:nvSpPr>
        <p:spPr>
          <a:xfrm>
            <a:off x="7269480" y="56784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110,96%</a:t>
            </a:r>
            <a:endParaRPr lang="en-US" sz="950" dirty="0"/>
          </a:p>
        </p:txBody>
      </p:sp>
      <p:sp>
        <p:nvSpPr>
          <p:cNvPr id="79" name="Text 74"/>
          <p:cNvSpPr/>
          <p:nvPr/>
        </p:nvSpPr>
        <p:spPr>
          <a:xfrm>
            <a:off x="8321040" y="56784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31,38%</a:t>
            </a:r>
            <a:endParaRPr lang="en-US" sz="950" dirty="0"/>
          </a:p>
        </p:txBody>
      </p:sp>
      <p:sp>
        <p:nvSpPr>
          <p:cNvPr id="80" name="Text 75"/>
          <p:cNvSpPr/>
          <p:nvPr/>
        </p:nvSpPr>
        <p:spPr>
          <a:xfrm>
            <a:off x="9372600" y="56784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110,96%</a:t>
            </a:r>
            <a:endParaRPr lang="en-US" sz="950" dirty="0"/>
          </a:p>
        </p:txBody>
      </p:sp>
      <p:sp>
        <p:nvSpPr>
          <p:cNvPr id="81" name="Shape 76"/>
          <p:cNvSpPr/>
          <p:nvPr/>
        </p:nvSpPr>
        <p:spPr>
          <a:xfrm>
            <a:off x="347472" y="5888736"/>
            <a:ext cx="11475720" cy="237744"/>
          </a:xfrm>
          <a:prstGeom prst="rect">
            <a:avLst/>
          </a:prstGeom>
          <a:solidFill>
            <a:srgbClr val="F8FBFA"/>
          </a:solidFill>
          <a:ln/>
        </p:spPr>
      </p:sp>
      <p:sp>
        <p:nvSpPr>
          <p:cNvPr id="82" name="Text 77"/>
          <p:cNvSpPr/>
          <p:nvPr/>
        </p:nvSpPr>
        <p:spPr>
          <a:xfrm>
            <a:off x="475488" y="59161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Var. BR</a:t>
            </a:r>
            <a:endParaRPr lang="en-US" sz="950" dirty="0"/>
          </a:p>
        </p:txBody>
      </p:sp>
      <p:sp>
        <p:nvSpPr>
          <p:cNvPr id="83" name="Text 78"/>
          <p:cNvSpPr/>
          <p:nvPr/>
        </p:nvSpPr>
        <p:spPr>
          <a:xfrm>
            <a:off x="2103120" y="59161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-5,25%</a:t>
            </a:r>
            <a:endParaRPr lang="en-US" sz="950" dirty="0"/>
          </a:p>
        </p:txBody>
      </p:sp>
      <p:sp>
        <p:nvSpPr>
          <p:cNvPr id="84" name="Text 79"/>
          <p:cNvSpPr/>
          <p:nvPr/>
        </p:nvSpPr>
        <p:spPr>
          <a:xfrm>
            <a:off x="3154680" y="59161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-488,75%</a:t>
            </a:r>
            <a:endParaRPr lang="en-US" sz="950" dirty="0"/>
          </a:p>
        </p:txBody>
      </p:sp>
      <p:sp>
        <p:nvSpPr>
          <p:cNvPr id="85" name="Text 80"/>
          <p:cNvSpPr/>
          <p:nvPr/>
        </p:nvSpPr>
        <p:spPr>
          <a:xfrm>
            <a:off x="4160520" y="59161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-1,37%</a:t>
            </a:r>
            <a:endParaRPr lang="en-US" sz="950" dirty="0"/>
          </a:p>
        </p:txBody>
      </p:sp>
      <p:sp>
        <p:nvSpPr>
          <p:cNvPr id="86" name="Text 81"/>
          <p:cNvSpPr/>
          <p:nvPr/>
        </p:nvSpPr>
        <p:spPr>
          <a:xfrm>
            <a:off x="5212080" y="59161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-24,23%</a:t>
            </a:r>
            <a:endParaRPr lang="en-US" sz="950" dirty="0"/>
          </a:p>
        </p:txBody>
      </p:sp>
      <p:sp>
        <p:nvSpPr>
          <p:cNvPr id="87" name="Text 82"/>
          <p:cNvSpPr/>
          <p:nvPr/>
        </p:nvSpPr>
        <p:spPr>
          <a:xfrm>
            <a:off x="6217920" y="59161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6,63%</a:t>
            </a:r>
            <a:endParaRPr lang="en-US" sz="950" dirty="0"/>
          </a:p>
        </p:txBody>
      </p:sp>
      <p:sp>
        <p:nvSpPr>
          <p:cNvPr id="88" name="Text 83"/>
          <p:cNvSpPr/>
          <p:nvPr/>
        </p:nvSpPr>
        <p:spPr>
          <a:xfrm>
            <a:off x="7269480" y="59161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17,99%</a:t>
            </a:r>
            <a:endParaRPr lang="en-US" sz="950" dirty="0"/>
          </a:p>
        </p:txBody>
      </p:sp>
      <p:sp>
        <p:nvSpPr>
          <p:cNvPr id="89" name="Text 84"/>
          <p:cNvSpPr/>
          <p:nvPr/>
        </p:nvSpPr>
        <p:spPr>
          <a:xfrm>
            <a:off x="8321040" y="59161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5,09%</a:t>
            </a:r>
            <a:endParaRPr lang="en-US" sz="950" dirty="0"/>
          </a:p>
        </p:txBody>
      </p:sp>
      <p:sp>
        <p:nvSpPr>
          <p:cNvPr id="90" name="Text 85"/>
          <p:cNvSpPr/>
          <p:nvPr/>
        </p:nvSpPr>
        <p:spPr>
          <a:xfrm>
            <a:off x="9372600" y="59161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17,99%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451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Composição da Carteira — Estratégia Atual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73152"/>
            <a:ext cx="804672" cy="8961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braunainvestimentos.com.br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Ref.: 29/05/2026  |  Conta 294954  |  XP Unique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1155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patrimonial por classe de ativos  —  R$ 6.065.475,02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47472" y="1481328"/>
          <a:ext cx="41148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4663440" y="1481328"/>
            <a:ext cx="71323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663440" y="1481328"/>
            <a:ext cx="7132320" cy="347472"/>
          </a:xfrm>
          <a:prstGeom prst="roundRect">
            <a:avLst>
              <a:gd name="adj" fmla="val 26316"/>
            </a:avLst>
          </a:prstGeom>
          <a:solidFill>
            <a:srgbClr val="1C6B67"/>
          </a:solidFill>
          <a:ln/>
        </p:spPr>
      </p:sp>
      <p:sp>
        <p:nvSpPr>
          <p:cNvPr id="11" name="Text 7"/>
          <p:cNvSpPr/>
          <p:nvPr/>
        </p:nvSpPr>
        <p:spPr>
          <a:xfrm>
            <a:off x="4828032" y="14813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Variável Brasil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961120" y="14813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90,65% do patrimônio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800600" y="186537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800600" y="204825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R$ 5.498.558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190488" y="186537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6190488" y="204825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-5,25%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7580376" y="186537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7580376" y="204825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-1,37%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8970264" y="186537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12M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8970264" y="204825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6,63%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10360152" y="186537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24M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10360152" y="204825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5,09%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4663440" y="2834640"/>
            <a:ext cx="71323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663440" y="2834640"/>
            <a:ext cx="7132320" cy="347472"/>
          </a:xfrm>
          <a:prstGeom prst="roundRect">
            <a:avLst>
              <a:gd name="adj" fmla="val 26316"/>
            </a:avLst>
          </a:prstGeom>
          <a:solidFill>
            <a:srgbClr val="C8A733"/>
          </a:solidFill>
          <a:ln/>
        </p:spPr>
      </p:sp>
      <p:sp>
        <p:nvSpPr>
          <p:cNvPr id="25" name="Text 21"/>
          <p:cNvSpPr/>
          <p:nvPr/>
        </p:nvSpPr>
        <p:spPr>
          <a:xfrm>
            <a:off x="4828032" y="28346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 Fixado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8961120" y="28346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5,72% do patrimônio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800600" y="321868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4800600" y="340156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R$ 346.923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6190488" y="321868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6190488" y="340156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1,07%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7580376" y="321868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7580376" y="340156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3,90%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8970264" y="321868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12M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8970264" y="340156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14,33%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10360152" y="321868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24M</a:t>
            </a:r>
            <a:endParaRPr lang="en-US" sz="950" dirty="0"/>
          </a:p>
        </p:txBody>
      </p:sp>
      <p:sp>
        <p:nvSpPr>
          <p:cNvPr id="36" name="Text 32"/>
          <p:cNvSpPr/>
          <p:nvPr/>
        </p:nvSpPr>
        <p:spPr>
          <a:xfrm>
            <a:off x="10360152" y="340156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20,58%</a:t>
            </a:r>
            <a:endParaRPr lang="en-US" sz="1600" dirty="0"/>
          </a:p>
        </p:txBody>
      </p:sp>
      <p:sp>
        <p:nvSpPr>
          <p:cNvPr id="37" name="Shape 33"/>
          <p:cNvSpPr/>
          <p:nvPr/>
        </p:nvSpPr>
        <p:spPr>
          <a:xfrm>
            <a:off x="4663440" y="4187952"/>
            <a:ext cx="71323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4663440" y="4187952"/>
            <a:ext cx="7132320" cy="347472"/>
          </a:xfrm>
          <a:prstGeom prst="roundRect">
            <a:avLst>
              <a:gd name="adj" fmla="val 26316"/>
            </a:avLst>
          </a:prstGeom>
          <a:solidFill>
            <a:srgbClr val="29897F"/>
          </a:solidFill>
          <a:ln/>
        </p:spPr>
      </p:sp>
      <p:sp>
        <p:nvSpPr>
          <p:cNvPr id="39" name="Text 35"/>
          <p:cNvSpPr/>
          <p:nvPr/>
        </p:nvSpPr>
        <p:spPr>
          <a:xfrm>
            <a:off x="4828032" y="41879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Inflação</a:t>
            </a:r>
            <a:endParaRPr lang="en-US" sz="1200" dirty="0"/>
          </a:p>
        </p:txBody>
      </p:sp>
      <p:sp>
        <p:nvSpPr>
          <p:cNvPr id="40" name="Text 36"/>
          <p:cNvSpPr/>
          <p:nvPr/>
        </p:nvSpPr>
        <p:spPr>
          <a:xfrm>
            <a:off x="8961120" y="418795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3,07% do patrimônio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4800600" y="45720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</a:t>
            </a:r>
            <a:endParaRPr lang="en-US" sz="950" dirty="0"/>
          </a:p>
        </p:txBody>
      </p:sp>
      <p:sp>
        <p:nvSpPr>
          <p:cNvPr id="42" name="Text 38"/>
          <p:cNvSpPr/>
          <p:nvPr/>
        </p:nvSpPr>
        <p:spPr>
          <a:xfrm>
            <a:off x="4800600" y="47548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R$ 186.301</a:t>
            </a:r>
            <a:endParaRPr lang="en-US" sz="1600" dirty="0"/>
          </a:p>
        </p:txBody>
      </p:sp>
      <p:sp>
        <p:nvSpPr>
          <p:cNvPr id="43" name="Text 39"/>
          <p:cNvSpPr/>
          <p:nvPr/>
        </p:nvSpPr>
        <p:spPr>
          <a:xfrm>
            <a:off x="6190488" y="45720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</a:t>
            </a:r>
            <a:endParaRPr lang="en-US" sz="950" dirty="0"/>
          </a:p>
        </p:txBody>
      </p:sp>
      <p:sp>
        <p:nvSpPr>
          <p:cNvPr id="44" name="Text 40"/>
          <p:cNvSpPr/>
          <p:nvPr/>
        </p:nvSpPr>
        <p:spPr>
          <a:xfrm>
            <a:off x="6190488" y="47548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1,06%</a:t>
            </a:r>
            <a:endParaRPr lang="en-US" sz="1600" dirty="0"/>
          </a:p>
        </p:txBody>
      </p:sp>
      <p:sp>
        <p:nvSpPr>
          <p:cNvPr id="45" name="Text 41"/>
          <p:cNvSpPr/>
          <p:nvPr/>
        </p:nvSpPr>
        <p:spPr>
          <a:xfrm>
            <a:off x="7580376" y="45720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</a:t>
            </a:r>
            <a:endParaRPr lang="en-US" sz="950" dirty="0"/>
          </a:p>
        </p:txBody>
      </p:sp>
      <p:sp>
        <p:nvSpPr>
          <p:cNvPr id="46" name="Text 42"/>
          <p:cNvSpPr/>
          <p:nvPr/>
        </p:nvSpPr>
        <p:spPr>
          <a:xfrm>
            <a:off x="7580376" y="47548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6,04%</a:t>
            </a:r>
            <a:endParaRPr lang="en-US" sz="1600" dirty="0"/>
          </a:p>
        </p:txBody>
      </p:sp>
      <p:sp>
        <p:nvSpPr>
          <p:cNvPr id="47" name="Text 43"/>
          <p:cNvSpPr/>
          <p:nvPr/>
        </p:nvSpPr>
        <p:spPr>
          <a:xfrm>
            <a:off x="8970264" y="45720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12M</a:t>
            </a:r>
            <a:endParaRPr lang="en-US" sz="950" dirty="0"/>
          </a:p>
        </p:txBody>
      </p:sp>
      <p:sp>
        <p:nvSpPr>
          <p:cNvPr id="48" name="Text 44"/>
          <p:cNvSpPr/>
          <p:nvPr/>
        </p:nvSpPr>
        <p:spPr>
          <a:xfrm>
            <a:off x="8970264" y="47548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17,98%</a:t>
            </a:r>
            <a:endParaRPr lang="en-US" sz="1600" dirty="0"/>
          </a:p>
        </p:txBody>
      </p:sp>
      <p:sp>
        <p:nvSpPr>
          <p:cNvPr id="49" name="Text 45"/>
          <p:cNvSpPr/>
          <p:nvPr/>
        </p:nvSpPr>
        <p:spPr>
          <a:xfrm>
            <a:off x="10360152" y="45720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24M</a:t>
            </a:r>
            <a:endParaRPr lang="en-US" sz="950" dirty="0"/>
          </a:p>
        </p:txBody>
      </p:sp>
      <p:sp>
        <p:nvSpPr>
          <p:cNvPr id="50" name="Text 46"/>
          <p:cNvSpPr/>
          <p:nvPr/>
        </p:nvSpPr>
        <p:spPr>
          <a:xfrm>
            <a:off x="10360152" y="47548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31,38%</a:t>
            </a:r>
            <a:endParaRPr lang="en-US" sz="1600" dirty="0"/>
          </a:p>
        </p:txBody>
      </p:sp>
      <p:sp>
        <p:nvSpPr>
          <p:cNvPr id="51" name="Shape 47"/>
          <p:cNvSpPr/>
          <p:nvPr/>
        </p:nvSpPr>
        <p:spPr>
          <a:xfrm>
            <a:off x="4663440" y="5541264"/>
            <a:ext cx="71323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52" name="Shape 48"/>
          <p:cNvSpPr/>
          <p:nvPr/>
        </p:nvSpPr>
        <p:spPr>
          <a:xfrm>
            <a:off x="4663440" y="5541264"/>
            <a:ext cx="7132320" cy="347472"/>
          </a:xfrm>
          <a:prstGeom prst="roundRect">
            <a:avLst>
              <a:gd name="adj" fmla="val 26316"/>
            </a:avLst>
          </a:prstGeom>
          <a:solidFill>
            <a:srgbClr val="7B4F2E"/>
          </a:solidFill>
          <a:ln/>
        </p:spPr>
      </p:sp>
      <p:sp>
        <p:nvSpPr>
          <p:cNvPr id="53" name="Text 49"/>
          <p:cNvSpPr/>
          <p:nvPr/>
        </p:nvSpPr>
        <p:spPr>
          <a:xfrm>
            <a:off x="4828032" y="554126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Alternativo (BITI11)</a:t>
            </a:r>
            <a:endParaRPr lang="en-US" sz="1200" dirty="0"/>
          </a:p>
        </p:txBody>
      </p:sp>
      <p:sp>
        <p:nvSpPr>
          <p:cNvPr id="54" name="Text 50"/>
          <p:cNvSpPr/>
          <p:nvPr/>
        </p:nvSpPr>
        <p:spPr>
          <a:xfrm>
            <a:off x="8961120" y="554126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0,38% do patrimônio</a:t>
            </a:r>
            <a:endParaRPr lang="en-US" sz="1100" dirty="0"/>
          </a:p>
        </p:txBody>
      </p:sp>
      <p:sp>
        <p:nvSpPr>
          <p:cNvPr id="55" name="Text 51"/>
          <p:cNvSpPr/>
          <p:nvPr/>
        </p:nvSpPr>
        <p:spPr>
          <a:xfrm>
            <a:off x="4800600" y="592531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</a:t>
            </a:r>
            <a:endParaRPr lang="en-US" sz="950" dirty="0"/>
          </a:p>
        </p:txBody>
      </p:sp>
      <p:sp>
        <p:nvSpPr>
          <p:cNvPr id="56" name="Text 52"/>
          <p:cNvSpPr/>
          <p:nvPr/>
        </p:nvSpPr>
        <p:spPr>
          <a:xfrm>
            <a:off x="4800600" y="610819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 23.060</a:t>
            </a:r>
            <a:endParaRPr lang="en-US" sz="1600" dirty="0"/>
          </a:p>
        </p:txBody>
      </p:sp>
      <p:sp>
        <p:nvSpPr>
          <p:cNvPr id="57" name="Text 53"/>
          <p:cNvSpPr/>
          <p:nvPr/>
        </p:nvSpPr>
        <p:spPr>
          <a:xfrm>
            <a:off x="6190488" y="592531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</a:t>
            </a:r>
            <a:endParaRPr lang="en-US" sz="950" dirty="0"/>
          </a:p>
        </p:txBody>
      </p:sp>
      <p:sp>
        <p:nvSpPr>
          <p:cNvPr id="58" name="Text 54"/>
          <p:cNvSpPr/>
          <p:nvPr/>
        </p:nvSpPr>
        <p:spPr>
          <a:xfrm>
            <a:off x="6190488" y="610819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-1,99%</a:t>
            </a:r>
            <a:endParaRPr lang="en-US" sz="1600" dirty="0"/>
          </a:p>
        </p:txBody>
      </p:sp>
      <p:sp>
        <p:nvSpPr>
          <p:cNvPr id="59" name="Text 55"/>
          <p:cNvSpPr/>
          <p:nvPr/>
        </p:nvSpPr>
        <p:spPr>
          <a:xfrm>
            <a:off x="7580376" y="592531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</a:t>
            </a:r>
            <a:endParaRPr lang="en-US" sz="950" dirty="0"/>
          </a:p>
        </p:txBody>
      </p:sp>
      <p:sp>
        <p:nvSpPr>
          <p:cNvPr id="60" name="Text 56"/>
          <p:cNvSpPr/>
          <p:nvPr/>
        </p:nvSpPr>
        <p:spPr>
          <a:xfrm>
            <a:off x="7580376" y="610819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-23,81%</a:t>
            </a:r>
            <a:endParaRPr lang="en-US" sz="1600" dirty="0"/>
          </a:p>
        </p:txBody>
      </p:sp>
      <p:sp>
        <p:nvSpPr>
          <p:cNvPr id="61" name="Text 57"/>
          <p:cNvSpPr/>
          <p:nvPr/>
        </p:nvSpPr>
        <p:spPr>
          <a:xfrm>
            <a:off x="8970264" y="592531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12M</a:t>
            </a:r>
            <a:endParaRPr lang="en-US" sz="950" dirty="0"/>
          </a:p>
        </p:txBody>
      </p:sp>
      <p:sp>
        <p:nvSpPr>
          <p:cNvPr id="62" name="Text 58"/>
          <p:cNvSpPr/>
          <p:nvPr/>
        </p:nvSpPr>
        <p:spPr>
          <a:xfrm>
            <a:off x="8970264" y="610819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-39,84%</a:t>
            </a:r>
            <a:endParaRPr lang="en-US" sz="1600" dirty="0"/>
          </a:p>
        </p:txBody>
      </p:sp>
      <p:sp>
        <p:nvSpPr>
          <p:cNvPr id="63" name="Text 59"/>
          <p:cNvSpPr/>
          <p:nvPr/>
        </p:nvSpPr>
        <p:spPr>
          <a:xfrm>
            <a:off x="10360152" y="592531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24M</a:t>
            </a:r>
            <a:endParaRPr lang="en-US" sz="950" dirty="0"/>
          </a:p>
        </p:txBody>
      </p:sp>
      <p:sp>
        <p:nvSpPr>
          <p:cNvPr id="64" name="Text 60"/>
          <p:cNvSpPr/>
          <p:nvPr/>
        </p:nvSpPr>
        <p:spPr>
          <a:xfrm>
            <a:off x="10360152" y="610819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21,70%</a:t>
            </a:r>
            <a:endParaRPr lang="en-US" sz="1600" dirty="0"/>
          </a:p>
        </p:txBody>
      </p:sp>
      <p:sp>
        <p:nvSpPr>
          <p:cNvPr id="65" name="Text 61"/>
          <p:cNvSpPr/>
          <p:nvPr/>
        </p:nvSpPr>
        <p:spPr>
          <a:xfrm>
            <a:off x="347472" y="601675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Concentração: 50,42% BBAS3  +  17,34% VALE3  =  67,76% do patrimônio total em apenas 2 ativos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451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Renda Variável — Destaques da Carteira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73152"/>
            <a:ext cx="804672" cy="8961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braunainvestimentos.com.br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Ref.: 29/05/2026  |  Conta 294954  |  XP Unique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115568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posições e performance no mês  |  Carteira RV: R$ 5.498.558  (90,65% do patrimônio)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47472" y="1481328"/>
            <a:ext cx="6949440" cy="365760"/>
          </a:xfrm>
          <a:prstGeom prst="roundRect">
            <a:avLst>
              <a:gd name="adj" fmla="val 25000"/>
            </a:avLst>
          </a:prstGeom>
          <a:solidFill>
            <a:srgbClr val="14514F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50876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Maiores Posições (por saldo)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75488" y="190195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444752" y="190195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154680" y="190195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Carteira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389120" y="190195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349240" y="190195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309360" y="190195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47472" y="2176272"/>
            <a:ext cx="6949440" cy="438912"/>
          </a:xfrm>
          <a:prstGeom prst="rect">
            <a:avLst/>
          </a:prstGeom>
          <a:solidFill>
            <a:srgbClr val="F2F9F8"/>
          </a:solidFill>
          <a:ln/>
        </p:spPr>
      </p:sp>
      <p:sp>
        <p:nvSpPr>
          <p:cNvPr id="17" name="Text 14"/>
          <p:cNvSpPr/>
          <p:nvPr/>
        </p:nvSpPr>
        <p:spPr>
          <a:xfrm>
            <a:off x="475488" y="226771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5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BBAS3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444752" y="226771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R$ 3.058.195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154680" y="226771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50,42%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389120" y="226771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-8,60%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349240" y="226771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-6,52%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309360" y="226771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-11,44%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47472" y="2633472"/>
            <a:ext cx="69494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475488" y="272491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5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VALE3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444752" y="272491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R$ 1.051.814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3154680" y="272491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17,34%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389120" y="272491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+2,02%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349240" y="272491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+15,09%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309360" y="272491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+52,97%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47472" y="3090672"/>
            <a:ext cx="6949440" cy="438912"/>
          </a:xfrm>
          <a:prstGeom prst="rect">
            <a:avLst/>
          </a:prstGeom>
          <a:solidFill>
            <a:srgbClr val="F2F9F8"/>
          </a:solidFill>
          <a:ln/>
        </p:spPr>
      </p:sp>
      <p:sp>
        <p:nvSpPr>
          <p:cNvPr id="31" name="Text 28"/>
          <p:cNvSpPr/>
          <p:nvPr/>
        </p:nvSpPr>
        <p:spPr>
          <a:xfrm>
            <a:off x="475488" y="318211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5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SBSP3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1444752" y="318211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  201.687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3154680" y="318211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3,33%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4389120" y="318211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-15,69%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5349240" y="318211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+5,42%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6309360" y="318211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+96,31%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347472" y="3547872"/>
            <a:ext cx="69494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5"/>
          <p:cNvSpPr/>
          <p:nvPr/>
        </p:nvSpPr>
        <p:spPr>
          <a:xfrm>
            <a:off x="475488" y="363931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5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GOGL34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1444752" y="363931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  111.811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3154680" y="363931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1,84%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4389120" y="363931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+0,76%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5349240" y="363931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+11,42%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6309360" y="363931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+104,71%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347472" y="4005072"/>
            <a:ext cx="6949440" cy="438912"/>
          </a:xfrm>
          <a:prstGeom prst="rect">
            <a:avLst/>
          </a:prstGeom>
          <a:solidFill>
            <a:srgbClr val="F2F9F8"/>
          </a:solidFill>
          <a:ln/>
        </p:spPr>
      </p:sp>
      <p:sp>
        <p:nvSpPr>
          <p:cNvPr id="45" name="Text 42"/>
          <p:cNvSpPr/>
          <p:nvPr/>
        </p:nvSpPr>
        <p:spPr>
          <a:xfrm>
            <a:off x="475488" y="409651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5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COGN3</a:t>
            </a:r>
            <a:endParaRPr lang="en-US" sz="1050" dirty="0"/>
          </a:p>
        </p:txBody>
      </p:sp>
      <p:sp>
        <p:nvSpPr>
          <p:cNvPr id="46" name="Text 43"/>
          <p:cNvSpPr/>
          <p:nvPr/>
        </p:nvSpPr>
        <p:spPr>
          <a:xfrm>
            <a:off x="1444752" y="409651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   68.750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3154680" y="409651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1,13%</a:t>
            </a:r>
            <a:endParaRPr lang="en-US" sz="1050" dirty="0"/>
          </a:p>
        </p:txBody>
      </p:sp>
      <p:sp>
        <p:nvSpPr>
          <p:cNvPr id="48" name="Text 45"/>
          <p:cNvSpPr/>
          <p:nvPr/>
        </p:nvSpPr>
        <p:spPr>
          <a:xfrm>
            <a:off x="4389120" y="409651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-10,07%</a:t>
            </a:r>
            <a:endParaRPr lang="en-US" sz="1050" dirty="0"/>
          </a:p>
        </p:txBody>
      </p:sp>
      <p:sp>
        <p:nvSpPr>
          <p:cNvPr id="49" name="Text 46"/>
          <p:cNvSpPr/>
          <p:nvPr/>
        </p:nvSpPr>
        <p:spPr>
          <a:xfrm>
            <a:off x="5349240" y="409651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-20,34%</a:t>
            </a:r>
            <a:endParaRPr lang="en-US" sz="1050" dirty="0"/>
          </a:p>
        </p:txBody>
      </p:sp>
      <p:sp>
        <p:nvSpPr>
          <p:cNvPr id="50" name="Text 47"/>
          <p:cNvSpPr/>
          <p:nvPr/>
        </p:nvSpPr>
        <p:spPr>
          <a:xfrm>
            <a:off x="6309360" y="409651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+50,18%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7498080" y="1481328"/>
            <a:ext cx="4343400" cy="365760"/>
          </a:xfrm>
          <a:prstGeom prst="roundRect">
            <a:avLst>
              <a:gd name="adj" fmla="val 25000"/>
            </a:avLst>
          </a:prstGeom>
          <a:solidFill>
            <a:srgbClr val="1E8449"/>
          </a:solidFill>
          <a:ln/>
        </p:spPr>
      </p:sp>
      <p:sp>
        <p:nvSpPr>
          <p:cNvPr id="52" name="Text 49"/>
          <p:cNvSpPr/>
          <p:nvPr/>
        </p:nvSpPr>
        <p:spPr>
          <a:xfrm>
            <a:off x="7662672" y="150876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Maiores Altas – Maio/26</a:t>
            </a:r>
            <a:endParaRPr lang="en-US" sz="1150" dirty="0"/>
          </a:p>
        </p:txBody>
      </p:sp>
      <p:sp>
        <p:nvSpPr>
          <p:cNvPr id="53" name="Shape 50"/>
          <p:cNvSpPr/>
          <p:nvPr/>
        </p:nvSpPr>
        <p:spPr>
          <a:xfrm>
            <a:off x="7498080" y="1938528"/>
            <a:ext cx="43434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54" name="Text 51"/>
          <p:cNvSpPr/>
          <p:nvPr/>
        </p:nvSpPr>
        <p:spPr>
          <a:xfrm>
            <a:off x="7662672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ITLC34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8732520" y="199339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+27,08%</a:t>
            </a:r>
            <a:endParaRPr lang="en-US" sz="1400" dirty="0"/>
          </a:p>
        </p:txBody>
      </p:sp>
      <p:sp>
        <p:nvSpPr>
          <p:cNvPr id="56" name="Text 53"/>
          <p:cNvSpPr/>
          <p:nvPr/>
        </p:nvSpPr>
        <p:spPr>
          <a:xfrm>
            <a:off x="969264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R$ 49.245  (Itaú LC BDR)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7498080" y="2432304"/>
            <a:ext cx="43434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58" name="Text 55"/>
          <p:cNvSpPr/>
          <p:nvPr/>
        </p:nvSpPr>
        <p:spPr>
          <a:xfrm>
            <a:off x="7662672" y="25054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TSLA34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8732520" y="248716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+14,46%</a:t>
            </a:r>
            <a:endParaRPr lang="en-US" sz="1400" dirty="0"/>
          </a:p>
        </p:txBody>
      </p:sp>
      <p:sp>
        <p:nvSpPr>
          <p:cNvPr id="60" name="Text 57"/>
          <p:cNvSpPr/>
          <p:nvPr/>
        </p:nvSpPr>
        <p:spPr>
          <a:xfrm>
            <a:off x="9692640" y="2505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R$ 34.075  (Tesla BDR)</a:t>
            </a:r>
            <a:endParaRPr lang="en-US" sz="950" dirty="0"/>
          </a:p>
        </p:txBody>
      </p:sp>
      <p:sp>
        <p:nvSpPr>
          <p:cNvPr id="61" name="Shape 58"/>
          <p:cNvSpPr/>
          <p:nvPr/>
        </p:nvSpPr>
        <p:spPr>
          <a:xfrm>
            <a:off x="7498080" y="2926080"/>
            <a:ext cx="43434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62" name="Text 59"/>
          <p:cNvSpPr/>
          <p:nvPr/>
        </p:nvSpPr>
        <p:spPr>
          <a:xfrm>
            <a:off x="7662672" y="29992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MSFT34</a:t>
            </a:r>
            <a:endParaRPr lang="en-US" sz="1100" dirty="0"/>
          </a:p>
        </p:txBody>
      </p:sp>
      <p:sp>
        <p:nvSpPr>
          <p:cNvPr id="63" name="Text 60"/>
          <p:cNvSpPr/>
          <p:nvPr/>
        </p:nvSpPr>
        <p:spPr>
          <a:xfrm>
            <a:off x="8732520" y="298094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+11,09%</a:t>
            </a:r>
            <a:endParaRPr lang="en-US" sz="1400" dirty="0"/>
          </a:p>
        </p:txBody>
      </p:sp>
      <p:sp>
        <p:nvSpPr>
          <p:cNvPr id="64" name="Text 61"/>
          <p:cNvSpPr/>
          <p:nvPr/>
        </p:nvSpPr>
        <p:spPr>
          <a:xfrm>
            <a:off x="9692640" y="2999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R$ 42.233  (Microsoft BDR)</a:t>
            </a:r>
            <a:endParaRPr lang="en-US" sz="950" dirty="0"/>
          </a:p>
        </p:txBody>
      </p:sp>
      <p:sp>
        <p:nvSpPr>
          <p:cNvPr id="65" name="Shape 62"/>
          <p:cNvSpPr/>
          <p:nvPr/>
        </p:nvSpPr>
        <p:spPr>
          <a:xfrm>
            <a:off x="7498080" y="3419856"/>
            <a:ext cx="43434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66" name="Text 63"/>
          <p:cNvSpPr/>
          <p:nvPr/>
        </p:nvSpPr>
        <p:spPr>
          <a:xfrm>
            <a:off x="7662672" y="34930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NASD11</a:t>
            </a:r>
            <a:endParaRPr lang="en-US" sz="1100" dirty="0"/>
          </a:p>
        </p:txBody>
      </p:sp>
      <p:sp>
        <p:nvSpPr>
          <p:cNvPr id="67" name="Text 64"/>
          <p:cNvSpPr/>
          <p:nvPr/>
        </p:nvSpPr>
        <p:spPr>
          <a:xfrm>
            <a:off x="8732520" y="347472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+12,52%</a:t>
            </a:r>
            <a:endParaRPr lang="en-US" sz="1400" dirty="0"/>
          </a:p>
        </p:txBody>
      </p:sp>
      <p:sp>
        <p:nvSpPr>
          <p:cNvPr id="68" name="Text 65"/>
          <p:cNvSpPr/>
          <p:nvPr/>
        </p:nvSpPr>
        <p:spPr>
          <a:xfrm>
            <a:off x="9692640" y="3493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R$ 88.395  (ETF Nasdaq)</a:t>
            </a:r>
            <a:endParaRPr lang="en-US" sz="950" dirty="0"/>
          </a:p>
        </p:txBody>
      </p:sp>
      <p:sp>
        <p:nvSpPr>
          <p:cNvPr id="69" name="Shape 66"/>
          <p:cNvSpPr/>
          <p:nvPr/>
        </p:nvSpPr>
        <p:spPr>
          <a:xfrm>
            <a:off x="7498080" y="3913632"/>
            <a:ext cx="43434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70" name="Text 67"/>
          <p:cNvSpPr/>
          <p:nvPr/>
        </p:nvSpPr>
        <p:spPr>
          <a:xfrm>
            <a:off x="7662672" y="39867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LREN3</a:t>
            </a:r>
            <a:endParaRPr lang="en-US" sz="1100" dirty="0"/>
          </a:p>
        </p:txBody>
      </p:sp>
      <p:sp>
        <p:nvSpPr>
          <p:cNvPr id="71" name="Text 68"/>
          <p:cNvSpPr/>
          <p:nvPr/>
        </p:nvSpPr>
        <p:spPr>
          <a:xfrm>
            <a:off x="8732520" y="396849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+9,56%</a:t>
            </a:r>
            <a:endParaRPr lang="en-US" sz="1400" dirty="0"/>
          </a:p>
        </p:txBody>
      </p:sp>
      <p:sp>
        <p:nvSpPr>
          <p:cNvPr id="72" name="Text 69"/>
          <p:cNvSpPr/>
          <p:nvPr/>
        </p:nvSpPr>
        <p:spPr>
          <a:xfrm>
            <a:off x="9692640" y="39867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R$ 19.668  (Lojas Renner)</a:t>
            </a:r>
            <a:endParaRPr lang="en-US" sz="950" dirty="0"/>
          </a:p>
        </p:txBody>
      </p:sp>
      <p:sp>
        <p:nvSpPr>
          <p:cNvPr id="73" name="Shape 70"/>
          <p:cNvSpPr/>
          <p:nvPr/>
        </p:nvSpPr>
        <p:spPr>
          <a:xfrm>
            <a:off x="7498080" y="4407408"/>
            <a:ext cx="43434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74" name="Text 71"/>
          <p:cNvSpPr/>
          <p:nvPr/>
        </p:nvSpPr>
        <p:spPr>
          <a:xfrm>
            <a:off x="7662672" y="4480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AAPL34</a:t>
            </a:r>
            <a:endParaRPr lang="en-US" sz="1100" dirty="0"/>
          </a:p>
        </p:txBody>
      </p:sp>
      <p:sp>
        <p:nvSpPr>
          <p:cNvPr id="75" name="Text 72"/>
          <p:cNvSpPr/>
          <p:nvPr/>
        </p:nvSpPr>
        <p:spPr>
          <a:xfrm>
            <a:off x="8732520" y="446227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+18,19%</a:t>
            </a:r>
            <a:endParaRPr lang="en-US" sz="1400" dirty="0"/>
          </a:p>
        </p:txBody>
      </p:sp>
      <p:sp>
        <p:nvSpPr>
          <p:cNvPr id="76" name="Text 73"/>
          <p:cNvSpPr/>
          <p:nvPr/>
        </p:nvSpPr>
        <p:spPr>
          <a:xfrm>
            <a:off x="9692640" y="4480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R$ 51.220  (Apple BDR)</a:t>
            </a:r>
            <a:endParaRPr lang="en-US" sz="950" dirty="0"/>
          </a:p>
        </p:txBody>
      </p:sp>
      <p:sp>
        <p:nvSpPr>
          <p:cNvPr id="77" name="Shape 74"/>
          <p:cNvSpPr/>
          <p:nvPr/>
        </p:nvSpPr>
        <p:spPr>
          <a:xfrm>
            <a:off x="347472" y="4480560"/>
            <a:ext cx="5349240" cy="347472"/>
          </a:xfrm>
          <a:prstGeom prst="roundRect">
            <a:avLst>
              <a:gd name="adj" fmla="val 26316"/>
            </a:avLst>
          </a:prstGeom>
          <a:solidFill>
            <a:srgbClr val="C0392B"/>
          </a:solidFill>
          <a:ln/>
        </p:spPr>
      </p:sp>
      <p:sp>
        <p:nvSpPr>
          <p:cNvPr id="78" name="Text 75"/>
          <p:cNvSpPr/>
          <p:nvPr/>
        </p:nvSpPr>
        <p:spPr>
          <a:xfrm>
            <a:off x="502920" y="45079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Atenção — Maiores Quedas no Mês</a:t>
            </a:r>
            <a:endParaRPr lang="en-US" sz="1150" dirty="0"/>
          </a:p>
        </p:txBody>
      </p:sp>
      <p:sp>
        <p:nvSpPr>
          <p:cNvPr id="79" name="Shape 76"/>
          <p:cNvSpPr/>
          <p:nvPr/>
        </p:nvSpPr>
        <p:spPr>
          <a:xfrm>
            <a:off x="347472" y="4919472"/>
            <a:ext cx="2487168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80" name="Text 77"/>
          <p:cNvSpPr/>
          <p:nvPr/>
        </p:nvSpPr>
        <p:spPr>
          <a:xfrm>
            <a:off x="484632" y="4983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MGLU3</a:t>
            </a:r>
            <a:endParaRPr lang="en-US" sz="1100" dirty="0"/>
          </a:p>
        </p:txBody>
      </p:sp>
      <p:sp>
        <p:nvSpPr>
          <p:cNvPr id="81" name="Text 78"/>
          <p:cNvSpPr/>
          <p:nvPr/>
        </p:nvSpPr>
        <p:spPr>
          <a:xfrm>
            <a:off x="1261872" y="4965192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-27,34%</a:t>
            </a:r>
            <a:endParaRPr lang="en-US" sz="1300" dirty="0"/>
          </a:p>
        </p:txBody>
      </p:sp>
      <p:sp>
        <p:nvSpPr>
          <p:cNvPr id="82" name="Text 79"/>
          <p:cNvSpPr/>
          <p:nvPr/>
        </p:nvSpPr>
        <p:spPr>
          <a:xfrm>
            <a:off x="484632" y="513892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R$ 6.279   — Posição pequena</a:t>
            </a:r>
            <a:endParaRPr lang="en-US" sz="850" dirty="0"/>
          </a:p>
        </p:txBody>
      </p:sp>
      <p:sp>
        <p:nvSpPr>
          <p:cNvPr id="83" name="Shape 80"/>
          <p:cNvSpPr/>
          <p:nvPr/>
        </p:nvSpPr>
        <p:spPr>
          <a:xfrm>
            <a:off x="347472" y="5394960"/>
            <a:ext cx="2487168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84" name="Text 81"/>
          <p:cNvSpPr/>
          <p:nvPr/>
        </p:nvSpPr>
        <p:spPr>
          <a:xfrm>
            <a:off x="484632" y="54589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CSAN3</a:t>
            </a:r>
            <a:endParaRPr lang="en-US" sz="1100" dirty="0"/>
          </a:p>
        </p:txBody>
      </p:sp>
      <p:sp>
        <p:nvSpPr>
          <p:cNvPr id="85" name="Text 82"/>
          <p:cNvSpPr/>
          <p:nvPr/>
        </p:nvSpPr>
        <p:spPr>
          <a:xfrm>
            <a:off x="1261872" y="544068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-24,97%</a:t>
            </a:r>
            <a:endParaRPr lang="en-US" sz="1300" dirty="0"/>
          </a:p>
        </p:txBody>
      </p:sp>
      <p:sp>
        <p:nvSpPr>
          <p:cNvPr id="86" name="Text 83"/>
          <p:cNvSpPr/>
          <p:nvPr/>
        </p:nvSpPr>
        <p:spPr>
          <a:xfrm>
            <a:off x="484632" y="561441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R$ 6.840   — Alta volatilidade</a:t>
            </a:r>
            <a:endParaRPr lang="en-US" sz="850" dirty="0"/>
          </a:p>
        </p:txBody>
      </p:sp>
      <p:sp>
        <p:nvSpPr>
          <p:cNvPr id="87" name="Shape 84"/>
          <p:cNvSpPr/>
          <p:nvPr/>
        </p:nvSpPr>
        <p:spPr>
          <a:xfrm>
            <a:off x="347472" y="5870448"/>
            <a:ext cx="2487168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88" name="Text 85"/>
          <p:cNvSpPr/>
          <p:nvPr/>
        </p:nvSpPr>
        <p:spPr>
          <a:xfrm>
            <a:off x="484632" y="59344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SBSP3</a:t>
            </a:r>
            <a:endParaRPr lang="en-US" sz="1100" dirty="0"/>
          </a:p>
        </p:txBody>
      </p:sp>
      <p:sp>
        <p:nvSpPr>
          <p:cNvPr id="89" name="Text 86"/>
          <p:cNvSpPr/>
          <p:nvPr/>
        </p:nvSpPr>
        <p:spPr>
          <a:xfrm>
            <a:off x="1261872" y="591616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-15,69%</a:t>
            </a:r>
            <a:endParaRPr lang="en-US" sz="1300" dirty="0"/>
          </a:p>
        </p:txBody>
      </p:sp>
      <p:sp>
        <p:nvSpPr>
          <p:cNvPr id="90" name="Text 87"/>
          <p:cNvSpPr/>
          <p:nvPr/>
        </p:nvSpPr>
        <p:spPr>
          <a:xfrm>
            <a:off x="484632" y="608990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R$ 201.687 — 3ª maior posição!</a:t>
            </a:r>
            <a:endParaRPr lang="en-US" sz="850" dirty="0"/>
          </a:p>
        </p:txBody>
      </p:sp>
      <p:sp>
        <p:nvSpPr>
          <p:cNvPr id="91" name="Shape 88"/>
          <p:cNvSpPr/>
          <p:nvPr/>
        </p:nvSpPr>
        <p:spPr>
          <a:xfrm>
            <a:off x="2926080" y="4919472"/>
            <a:ext cx="2487168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92" name="Text 89"/>
          <p:cNvSpPr/>
          <p:nvPr/>
        </p:nvSpPr>
        <p:spPr>
          <a:xfrm>
            <a:off x="3063240" y="4983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VIVA3</a:t>
            </a:r>
            <a:endParaRPr lang="en-US" sz="1100" dirty="0"/>
          </a:p>
        </p:txBody>
      </p:sp>
      <p:sp>
        <p:nvSpPr>
          <p:cNvPr id="93" name="Text 90"/>
          <p:cNvSpPr/>
          <p:nvPr/>
        </p:nvSpPr>
        <p:spPr>
          <a:xfrm>
            <a:off x="3840480" y="4965192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-15,38%</a:t>
            </a:r>
            <a:endParaRPr lang="en-US" sz="1300" dirty="0"/>
          </a:p>
        </p:txBody>
      </p:sp>
      <p:sp>
        <p:nvSpPr>
          <p:cNvPr id="94" name="Text 91"/>
          <p:cNvSpPr/>
          <p:nvPr/>
        </p:nvSpPr>
        <p:spPr>
          <a:xfrm>
            <a:off x="3063240" y="513892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R$ 26.208  — Ambipar</a:t>
            </a:r>
            <a:endParaRPr lang="en-US" sz="850" dirty="0"/>
          </a:p>
        </p:txBody>
      </p:sp>
      <p:sp>
        <p:nvSpPr>
          <p:cNvPr id="95" name="Shape 92"/>
          <p:cNvSpPr/>
          <p:nvPr/>
        </p:nvSpPr>
        <p:spPr>
          <a:xfrm>
            <a:off x="2926080" y="5394960"/>
            <a:ext cx="2487168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96" name="Text 93"/>
          <p:cNvSpPr/>
          <p:nvPr/>
        </p:nvSpPr>
        <p:spPr>
          <a:xfrm>
            <a:off x="3063240" y="54589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PETR4</a:t>
            </a:r>
            <a:endParaRPr lang="en-US" sz="1100" dirty="0"/>
          </a:p>
        </p:txBody>
      </p:sp>
      <p:sp>
        <p:nvSpPr>
          <p:cNvPr id="97" name="Text 94"/>
          <p:cNvSpPr/>
          <p:nvPr/>
        </p:nvSpPr>
        <p:spPr>
          <a:xfrm>
            <a:off x="3840480" y="544068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-14,43%</a:t>
            </a:r>
            <a:endParaRPr lang="en-US" sz="1300" dirty="0"/>
          </a:p>
        </p:txBody>
      </p:sp>
      <p:sp>
        <p:nvSpPr>
          <p:cNvPr id="98" name="Text 95"/>
          <p:cNvSpPr/>
          <p:nvPr/>
        </p:nvSpPr>
        <p:spPr>
          <a:xfrm>
            <a:off x="3063240" y="561441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R$ 42.000  — Petrobras</a:t>
            </a:r>
            <a:endParaRPr lang="en-US" sz="850" dirty="0"/>
          </a:p>
        </p:txBody>
      </p:sp>
      <p:sp>
        <p:nvSpPr>
          <p:cNvPr id="99" name="Shape 96"/>
          <p:cNvSpPr/>
          <p:nvPr/>
        </p:nvSpPr>
        <p:spPr>
          <a:xfrm>
            <a:off x="2926080" y="5870448"/>
            <a:ext cx="2487168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00" name="Text 97"/>
          <p:cNvSpPr/>
          <p:nvPr/>
        </p:nvSpPr>
        <p:spPr>
          <a:xfrm>
            <a:off x="3063240" y="59344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INBR32</a:t>
            </a:r>
            <a:endParaRPr lang="en-US" sz="1100" dirty="0"/>
          </a:p>
        </p:txBody>
      </p:sp>
      <p:sp>
        <p:nvSpPr>
          <p:cNvPr id="101" name="Text 98"/>
          <p:cNvSpPr/>
          <p:nvPr/>
        </p:nvSpPr>
        <p:spPr>
          <a:xfrm>
            <a:off x="3840480" y="591616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-17,19%</a:t>
            </a:r>
            <a:endParaRPr lang="en-US" sz="1300" dirty="0"/>
          </a:p>
        </p:txBody>
      </p:sp>
      <p:sp>
        <p:nvSpPr>
          <p:cNvPr id="102" name="Text 99"/>
          <p:cNvSpPr/>
          <p:nvPr/>
        </p:nvSpPr>
        <p:spPr>
          <a:xfrm>
            <a:off x="3063240" y="608990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R$ 18.582  — Inter BDR</a:t>
            </a:r>
            <a:endParaRPr lang="en-US" sz="850" dirty="0"/>
          </a:p>
        </p:txBody>
      </p:sp>
      <p:sp>
        <p:nvSpPr>
          <p:cNvPr id="103" name="Shape 100"/>
          <p:cNvSpPr/>
          <p:nvPr/>
        </p:nvSpPr>
        <p:spPr>
          <a:xfrm>
            <a:off x="5833872" y="4480560"/>
            <a:ext cx="6007608" cy="347472"/>
          </a:xfrm>
          <a:prstGeom prst="roundRect">
            <a:avLst>
              <a:gd name="adj" fmla="val 26316"/>
            </a:avLst>
          </a:prstGeom>
          <a:solidFill>
            <a:srgbClr val="14514F"/>
          </a:solidFill>
          <a:ln/>
        </p:spPr>
      </p:sp>
      <p:sp>
        <p:nvSpPr>
          <p:cNvPr id="104" name="Text 101"/>
          <p:cNvSpPr/>
          <p:nvPr/>
        </p:nvSpPr>
        <p:spPr>
          <a:xfrm>
            <a:off x="5989320" y="450799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Destaques em 24 Meses (acumulado)</a:t>
            </a:r>
            <a:endParaRPr lang="en-US" sz="1150" dirty="0"/>
          </a:p>
        </p:txBody>
      </p:sp>
      <p:sp>
        <p:nvSpPr>
          <p:cNvPr id="105" name="Shape 102"/>
          <p:cNvSpPr/>
          <p:nvPr/>
        </p:nvSpPr>
        <p:spPr>
          <a:xfrm>
            <a:off x="5833872" y="4919472"/>
            <a:ext cx="283464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06" name="Text 103"/>
          <p:cNvSpPr/>
          <p:nvPr/>
        </p:nvSpPr>
        <p:spPr>
          <a:xfrm>
            <a:off x="5971032" y="4983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ITLC34</a:t>
            </a:r>
            <a:endParaRPr lang="en-US" sz="1100" dirty="0"/>
          </a:p>
        </p:txBody>
      </p:sp>
      <p:sp>
        <p:nvSpPr>
          <p:cNvPr id="107" name="Text 104"/>
          <p:cNvSpPr/>
          <p:nvPr/>
        </p:nvSpPr>
        <p:spPr>
          <a:xfrm>
            <a:off x="6839712" y="496519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+220,16%</a:t>
            </a:r>
            <a:endParaRPr lang="en-US" sz="1300" dirty="0"/>
          </a:p>
        </p:txBody>
      </p:sp>
      <p:sp>
        <p:nvSpPr>
          <p:cNvPr id="108" name="Text 105"/>
          <p:cNvSpPr/>
          <p:nvPr/>
        </p:nvSpPr>
        <p:spPr>
          <a:xfrm>
            <a:off x="7708392" y="499262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Itaú Latam Corp. BDR</a:t>
            </a:r>
            <a:endParaRPr lang="en-US" sz="850" dirty="0"/>
          </a:p>
        </p:txBody>
      </p:sp>
      <p:sp>
        <p:nvSpPr>
          <p:cNvPr id="109" name="Shape 106"/>
          <p:cNvSpPr/>
          <p:nvPr/>
        </p:nvSpPr>
        <p:spPr>
          <a:xfrm>
            <a:off x="5833872" y="5394960"/>
            <a:ext cx="283464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10" name="Text 107"/>
          <p:cNvSpPr/>
          <p:nvPr/>
        </p:nvSpPr>
        <p:spPr>
          <a:xfrm>
            <a:off x="5971032" y="54589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CSMG3</a:t>
            </a:r>
            <a:endParaRPr lang="en-US" sz="1100" dirty="0"/>
          </a:p>
        </p:txBody>
      </p:sp>
      <p:sp>
        <p:nvSpPr>
          <p:cNvPr id="111" name="Text 108"/>
          <p:cNvSpPr/>
          <p:nvPr/>
        </p:nvSpPr>
        <p:spPr>
          <a:xfrm>
            <a:off x="6839712" y="54406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+165,89%</a:t>
            </a:r>
            <a:endParaRPr lang="en-US" sz="1300" dirty="0"/>
          </a:p>
        </p:txBody>
      </p:sp>
      <p:sp>
        <p:nvSpPr>
          <p:cNvPr id="112" name="Text 109"/>
          <p:cNvSpPr/>
          <p:nvPr/>
        </p:nvSpPr>
        <p:spPr>
          <a:xfrm>
            <a:off x="7708392" y="54681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COPASA — utilidades</a:t>
            </a:r>
            <a:endParaRPr lang="en-US" sz="850" dirty="0"/>
          </a:p>
        </p:txBody>
      </p:sp>
      <p:sp>
        <p:nvSpPr>
          <p:cNvPr id="113" name="Shape 110"/>
          <p:cNvSpPr/>
          <p:nvPr/>
        </p:nvSpPr>
        <p:spPr>
          <a:xfrm>
            <a:off x="5833872" y="5870448"/>
            <a:ext cx="283464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14" name="Text 111"/>
          <p:cNvSpPr/>
          <p:nvPr/>
        </p:nvSpPr>
        <p:spPr>
          <a:xfrm>
            <a:off x="5971032" y="59344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SBSP3</a:t>
            </a:r>
            <a:endParaRPr lang="en-US" sz="1100" dirty="0"/>
          </a:p>
        </p:txBody>
      </p:sp>
      <p:sp>
        <p:nvSpPr>
          <p:cNvPr id="115" name="Text 112"/>
          <p:cNvSpPr/>
          <p:nvPr/>
        </p:nvSpPr>
        <p:spPr>
          <a:xfrm>
            <a:off x="6839712" y="591616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+96,31%</a:t>
            </a:r>
            <a:endParaRPr lang="en-US" sz="1300" dirty="0"/>
          </a:p>
        </p:txBody>
      </p:sp>
      <p:sp>
        <p:nvSpPr>
          <p:cNvPr id="116" name="Text 113"/>
          <p:cNvSpPr/>
          <p:nvPr/>
        </p:nvSpPr>
        <p:spPr>
          <a:xfrm>
            <a:off x="7708392" y="5943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SABESP (privatização)</a:t>
            </a:r>
            <a:endParaRPr lang="en-US" sz="850" dirty="0"/>
          </a:p>
        </p:txBody>
      </p:sp>
      <p:sp>
        <p:nvSpPr>
          <p:cNvPr id="117" name="Shape 114"/>
          <p:cNvSpPr/>
          <p:nvPr/>
        </p:nvSpPr>
        <p:spPr>
          <a:xfrm>
            <a:off x="8915400" y="4919472"/>
            <a:ext cx="283464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18" name="Text 115"/>
          <p:cNvSpPr/>
          <p:nvPr/>
        </p:nvSpPr>
        <p:spPr>
          <a:xfrm>
            <a:off x="9052560" y="4983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TSLA34</a:t>
            </a:r>
            <a:endParaRPr lang="en-US" sz="1100" dirty="0"/>
          </a:p>
        </p:txBody>
      </p:sp>
      <p:sp>
        <p:nvSpPr>
          <p:cNvPr id="119" name="Text 116"/>
          <p:cNvSpPr/>
          <p:nvPr/>
        </p:nvSpPr>
        <p:spPr>
          <a:xfrm>
            <a:off x="9921240" y="496519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+101,08%</a:t>
            </a:r>
            <a:endParaRPr lang="en-US" sz="1300" dirty="0"/>
          </a:p>
        </p:txBody>
      </p:sp>
      <p:sp>
        <p:nvSpPr>
          <p:cNvPr id="120" name="Text 117"/>
          <p:cNvSpPr/>
          <p:nvPr/>
        </p:nvSpPr>
        <p:spPr>
          <a:xfrm>
            <a:off x="10789920" y="499262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BDR</a:t>
            </a:r>
            <a:endParaRPr lang="en-US" sz="850" dirty="0"/>
          </a:p>
        </p:txBody>
      </p:sp>
      <p:sp>
        <p:nvSpPr>
          <p:cNvPr id="121" name="Shape 118"/>
          <p:cNvSpPr/>
          <p:nvPr/>
        </p:nvSpPr>
        <p:spPr>
          <a:xfrm>
            <a:off x="8915400" y="5394960"/>
            <a:ext cx="283464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22" name="Text 119"/>
          <p:cNvSpPr/>
          <p:nvPr/>
        </p:nvSpPr>
        <p:spPr>
          <a:xfrm>
            <a:off x="9052560" y="54589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VALE3</a:t>
            </a:r>
            <a:endParaRPr lang="en-US" sz="1100" dirty="0"/>
          </a:p>
        </p:txBody>
      </p:sp>
      <p:sp>
        <p:nvSpPr>
          <p:cNvPr id="123" name="Text 120"/>
          <p:cNvSpPr/>
          <p:nvPr/>
        </p:nvSpPr>
        <p:spPr>
          <a:xfrm>
            <a:off x="9921240" y="54406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+52,97%</a:t>
            </a:r>
            <a:endParaRPr lang="en-US" sz="1300" dirty="0"/>
          </a:p>
        </p:txBody>
      </p:sp>
      <p:sp>
        <p:nvSpPr>
          <p:cNvPr id="124" name="Text 121"/>
          <p:cNvSpPr/>
          <p:nvPr/>
        </p:nvSpPr>
        <p:spPr>
          <a:xfrm>
            <a:off x="10789920" y="54681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— maior pos. RV</a:t>
            </a:r>
            <a:endParaRPr lang="en-US" sz="850" dirty="0"/>
          </a:p>
        </p:txBody>
      </p:sp>
      <p:sp>
        <p:nvSpPr>
          <p:cNvPr id="125" name="Shape 122"/>
          <p:cNvSpPr/>
          <p:nvPr/>
        </p:nvSpPr>
        <p:spPr>
          <a:xfrm>
            <a:off x="8915400" y="5870448"/>
            <a:ext cx="283464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26" name="Text 123"/>
          <p:cNvSpPr/>
          <p:nvPr/>
        </p:nvSpPr>
        <p:spPr>
          <a:xfrm>
            <a:off x="9052560" y="59344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GOGL34</a:t>
            </a:r>
            <a:endParaRPr lang="en-US" sz="1100" dirty="0"/>
          </a:p>
        </p:txBody>
      </p:sp>
      <p:sp>
        <p:nvSpPr>
          <p:cNvPr id="127" name="Text 124"/>
          <p:cNvSpPr/>
          <p:nvPr/>
        </p:nvSpPr>
        <p:spPr>
          <a:xfrm>
            <a:off x="9921240" y="591616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+104,71%</a:t>
            </a:r>
            <a:endParaRPr lang="en-US" sz="1300" dirty="0"/>
          </a:p>
        </p:txBody>
      </p:sp>
      <p:sp>
        <p:nvSpPr>
          <p:cNvPr id="128" name="Text 125"/>
          <p:cNvSpPr/>
          <p:nvPr/>
        </p:nvSpPr>
        <p:spPr>
          <a:xfrm>
            <a:off x="10789920" y="5943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Alphabet BDR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451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Renda Fixa &amp; Alternativo — Posição Detalhada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73152"/>
            <a:ext cx="804672" cy="8961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braunainvestimentos.com.br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Ref.: 29/05/2026  |  Conta 294954  |  XP Unique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115568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em crédito privado, debêntures incentivadas e BITI11  |  Total: R$ 556.284  (9,17% do patrimônio)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47472" y="1481328"/>
            <a:ext cx="11475720" cy="347472"/>
          </a:xfrm>
          <a:prstGeom prst="roundRect">
            <a:avLst>
              <a:gd name="adj" fmla="val 26316"/>
            </a:avLst>
          </a:prstGeom>
          <a:solidFill>
            <a:srgbClr val="C8A733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5087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Pós Fixado  —  R$ 346.923  (5,72%)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7472" y="1920240"/>
            <a:ext cx="1147572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02920" y="19751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Hidra CDI Plus Infra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297680" y="19568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349240" y="19568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Ptf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263640" y="19568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269480" y="19568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CDI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275320" y="19568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9281160" y="19568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24M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297680" y="21579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R$ 78.287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349240" y="21579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1,29%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263640" y="21579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1,37%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269480" y="21579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128,08%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8275320" y="21579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4,11%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9281160" y="21579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14,28%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10314432" y="20574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128% CDI no mês — excelente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47472" y="2578608"/>
            <a:ext cx="1147572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02920" y="26334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Debêntures Incentivadas Hedge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297680" y="261518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5349240" y="261518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Ptf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6263640" y="261518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269480" y="261518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CDI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8275320" y="261518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9281160" y="261518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24M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297680" y="28163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R$ 151.316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5349240" y="28163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2,49%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6263640" y="28163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1,02%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7269480" y="28163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94,95%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8275320" y="28163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1,02%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9281160" y="28163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1,02%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10314432" y="27157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Underperform vs CDI no ano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347472" y="3236976"/>
            <a:ext cx="1147572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502920" y="32918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Debêntures Incentivadas CDI Infra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4297680" y="32735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5349240" y="32735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Ptf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6263640" y="32735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7269480" y="32735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CDI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8275320" y="32735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9281160" y="32735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24M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4297680" y="34747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R$ 117.320</a:t>
            </a:r>
            <a:endParaRPr lang="en-US" sz="1050" dirty="0"/>
          </a:p>
        </p:txBody>
      </p:sp>
      <p:sp>
        <p:nvSpPr>
          <p:cNvPr id="49" name="Text 46"/>
          <p:cNvSpPr/>
          <p:nvPr/>
        </p:nvSpPr>
        <p:spPr>
          <a:xfrm>
            <a:off x="5349240" y="34747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1,93%</a:t>
            </a:r>
            <a:endParaRPr lang="en-US" sz="1050" dirty="0"/>
          </a:p>
        </p:txBody>
      </p:sp>
      <p:sp>
        <p:nvSpPr>
          <p:cNvPr id="50" name="Text 47"/>
          <p:cNvSpPr/>
          <p:nvPr/>
        </p:nvSpPr>
        <p:spPr>
          <a:xfrm>
            <a:off x="6263640" y="34747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0,94%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7269480" y="34747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87,71%</a:t>
            </a:r>
            <a:endParaRPr lang="en-US" sz="1050" dirty="0"/>
          </a:p>
        </p:txBody>
      </p:sp>
      <p:sp>
        <p:nvSpPr>
          <p:cNvPr id="52" name="Text 49"/>
          <p:cNvSpPr/>
          <p:nvPr/>
        </p:nvSpPr>
        <p:spPr>
          <a:xfrm>
            <a:off x="8275320" y="34747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3,85%</a:t>
            </a:r>
            <a:endParaRPr lang="en-US" sz="1050" dirty="0"/>
          </a:p>
        </p:txBody>
      </p:sp>
      <p:sp>
        <p:nvSpPr>
          <p:cNvPr id="53" name="Text 50"/>
          <p:cNvSpPr/>
          <p:nvPr/>
        </p:nvSpPr>
        <p:spPr>
          <a:xfrm>
            <a:off x="9281160" y="34747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20,38%</a:t>
            </a:r>
            <a:endParaRPr lang="en-US" sz="1050" dirty="0"/>
          </a:p>
        </p:txBody>
      </p:sp>
      <p:sp>
        <p:nvSpPr>
          <p:cNvPr id="54" name="Text 51"/>
          <p:cNvSpPr/>
          <p:nvPr/>
        </p:nvSpPr>
        <p:spPr>
          <a:xfrm>
            <a:off x="10314432" y="337413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Isento IR — 24M &gt; CDI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347472" y="3913632"/>
            <a:ext cx="11475720" cy="347472"/>
          </a:xfrm>
          <a:prstGeom prst="roundRect">
            <a:avLst>
              <a:gd name="adj" fmla="val 26316"/>
            </a:avLst>
          </a:prstGeom>
          <a:solidFill>
            <a:srgbClr val="1C6B67"/>
          </a:solidFill>
          <a:ln/>
        </p:spPr>
      </p:sp>
      <p:sp>
        <p:nvSpPr>
          <p:cNvPr id="56" name="Text 53"/>
          <p:cNvSpPr/>
          <p:nvPr/>
        </p:nvSpPr>
        <p:spPr>
          <a:xfrm>
            <a:off x="502920" y="394106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Inflação (IPCA+)  —  R$ 186.301  (3,07%)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347472" y="4352544"/>
            <a:ext cx="992124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58" name="Text 55"/>
          <p:cNvSpPr/>
          <p:nvPr/>
        </p:nvSpPr>
        <p:spPr>
          <a:xfrm>
            <a:off x="502920" y="44074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 Agroinsumos MAI/2030  IPCA+8,15%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4251960" y="44714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R$ 35.728</a:t>
            </a:r>
            <a:endParaRPr lang="en-US" sz="1050" dirty="0"/>
          </a:p>
        </p:txBody>
      </p:sp>
      <p:sp>
        <p:nvSpPr>
          <p:cNvPr id="60" name="Text 57"/>
          <p:cNvSpPr/>
          <p:nvPr/>
        </p:nvSpPr>
        <p:spPr>
          <a:xfrm>
            <a:off x="5257800" y="44714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0,59%</a:t>
            </a:r>
            <a:endParaRPr lang="en-US" sz="1050" dirty="0"/>
          </a:p>
        </p:txBody>
      </p:sp>
      <p:sp>
        <p:nvSpPr>
          <p:cNvPr id="61" name="Text 58"/>
          <p:cNvSpPr/>
          <p:nvPr/>
        </p:nvSpPr>
        <p:spPr>
          <a:xfrm>
            <a:off x="6172200" y="44714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1,60%</a:t>
            </a:r>
            <a:endParaRPr lang="en-US" sz="1050" dirty="0"/>
          </a:p>
        </p:txBody>
      </p:sp>
      <p:sp>
        <p:nvSpPr>
          <p:cNvPr id="62" name="Text 59"/>
          <p:cNvSpPr/>
          <p:nvPr/>
        </p:nvSpPr>
        <p:spPr>
          <a:xfrm>
            <a:off x="7132320" y="44714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149,32%</a:t>
            </a:r>
            <a:endParaRPr lang="en-US" sz="1050" dirty="0"/>
          </a:p>
        </p:txBody>
      </p:sp>
      <p:sp>
        <p:nvSpPr>
          <p:cNvPr id="63" name="Text 60"/>
          <p:cNvSpPr/>
          <p:nvPr/>
        </p:nvSpPr>
        <p:spPr>
          <a:xfrm>
            <a:off x="8092440" y="44714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7,59%</a:t>
            </a:r>
            <a:endParaRPr lang="en-US" sz="1050" dirty="0"/>
          </a:p>
        </p:txBody>
      </p:sp>
      <p:sp>
        <p:nvSpPr>
          <p:cNvPr id="64" name="Text 61"/>
          <p:cNvSpPr/>
          <p:nvPr/>
        </p:nvSpPr>
        <p:spPr>
          <a:xfrm>
            <a:off x="9052560" y="44714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38,80%</a:t>
            </a:r>
            <a:endParaRPr lang="en-US" sz="1050" dirty="0"/>
          </a:p>
        </p:txBody>
      </p:sp>
      <p:sp>
        <p:nvSpPr>
          <p:cNvPr id="65" name="Shape 62"/>
          <p:cNvSpPr/>
          <p:nvPr/>
        </p:nvSpPr>
        <p:spPr>
          <a:xfrm>
            <a:off x="10314432" y="4352544"/>
            <a:ext cx="1508760" cy="493776"/>
          </a:xfrm>
          <a:prstGeom prst="roundRect">
            <a:avLst>
              <a:gd name="adj" fmla="val 14815"/>
            </a:avLst>
          </a:prstGeom>
          <a:solidFill>
            <a:srgbClr val="E8F8F5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66" name="Text 63"/>
          <p:cNvSpPr/>
          <p:nvPr/>
        </p:nvSpPr>
        <p:spPr>
          <a:xfrm>
            <a:off x="10378440" y="444398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Destaque — 149% CDI</a:t>
            </a:r>
            <a:endParaRPr lang="en-US" sz="900" dirty="0"/>
          </a:p>
        </p:txBody>
      </p:sp>
      <p:sp>
        <p:nvSpPr>
          <p:cNvPr id="67" name="Shape 64"/>
          <p:cNvSpPr/>
          <p:nvPr/>
        </p:nvSpPr>
        <p:spPr>
          <a:xfrm>
            <a:off x="347472" y="4919472"/>
            <a:ext cx="992124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68" name="Text 65"/>
          <p:cNvSpPr/>
          <p:nvPr/>
        </p:nvSpPr>
        <p:spPr>
          <a:xfrm>
            <a:off x="502920" y="49743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 Helbor SET/2029  IPCA+7,70%</a:t>
            </a:r>
            <a:endParaRPr lang="en-US" sz="1000" dirty="0"/>
          </a:p>
        </p:txBody>
      </p:sp>
      <p:sp>
        <p:nvSpPr>
          <p:cNvPr id="69" name="Text 66"/>
          <p:cNvSpPr/>
          <p:nvPr/>
        </p:nvSpPr>
        <p:spPr>
          <a:xfrm>
            <a:off x="4251960" y="50383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R$ 50.139</a:t>
            </a:r>
            <a:endParaRPr lang="en-US" sz="1050" dirty="0"/>
          </a:p>
        </p:txBody>
      </p:sp>
      <p:sp>
        <p:nvSpPr>
          <p:cNvPr id="70" name="Text 67"/>
          <p:cNvSpPr/>
          <p:nvPr/>
        </p:nvSpPr>
        <p:spPr>
          <a:xfrm>
            <a:off x="5257800" y="50383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0,83%</a:t>
            </a:r>
            <a:endParaRPr lang="en-US" sz="1050" dirty="0"/>
          </a:p>
        </p:txBody>
      </p:sp>
      <p:sp>
        <p:nvSpPr>
          <p:cNvPr id="71" name="Text 68"/>
          <p:cNvSpPr/>
          <p:nvPr/>
        </p:nvSpPr>
        <p:spPr>
          <a:xfrm>
            <a:off x="6172200" y="50383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1,29%</a:t>
            </a:r>
            <a:endParaRPr lang="en-US" sz="1050" dirty="0"/>
          </a:p>
        </p:txBody>
      </p:sp>
      <p:sp>
        <p:nvSpPr>
          <p:cNvPr id="72" name="Text 69"/>
          <p:cNvSpPr/>
          <p:nvPr/>
        </p:nvSpPr>
        <p:spPr>
          <a:xfrm>
            <a:off x="7132320" y="50383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120,16%</a:t>
            </a:r>
            <a:endParaRPr lang="en-US" sz="1050" dirty="0"/>
          </a:p>
        </p:txBody>
      </p:sp>
      <p:sp>
        <p:nvSpPr>
          <p:cNvPr id="73" name="Text 70"/>
          <p:cNvSpPr/>
          <p:nvPr/>
        </p:nvSpPr>
        <p:spPr>
          <a:xfrm>
            <a:off x="8092440" y="50383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6,29%</a:t>
            </a:r>
            <a:endParaRPr lang="en-US" sz="1050" dirty="0"/>
          </a:p>
        </p:txBody>
      </p:sp>
      <p:sp>
        <p:nvSpPr>
          <p:cNvPr id="74" name="Text 71"/>
          <p:cNvSpPr/>
          <p:nvPr/>
        </p:nvSpPr>
        <p:spPr>
          <a:xfrm>
            <a:off x="9052560" y="50383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29,22%</a:t>
            </a:r>
            <a:endParaRPr lang="en-US" sz="1050" dirty="0"/>
          </a:p>
        </p:txBody>
      </p:sp>
      <p:sp>
        <p:nvSpPr>
          <p:cNvPr id="75" name="Shape 72"/>
          <p:cNvSpPr/>
          <p:nvPr/>
        </p:nvSpPr>
        <p:spPr>
          <a:xfrm>
            <a:off x="10314432" y="4919472"/>
            <a:ext cx="1508760" cy="493776"/>
          </a:xfrm>
          <a:prstGeom prst="roundRect">
            <a:avLst>
              <a:gd name="adj" fmla="val 14815"/>
            </a:avLst>
          </a:prstGeom>
          <a:solidFill>
            <a:srgbClr val="E8F8F5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76" name="Text 73"/>
          <p:cNvSpPr/>
          <p:nvPr/>
        </p:nvSpPr>
        <p:spPr>
          <a:xfrm>
            <a:off x="10378440" y="501091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Isento — acima CDI</a:t>
            </a:r>
            <a:endParaRPr lang="en-US" sz="900" dirty="0"/>
          </a:p>
        </p:txBody>
      </p:sp>
      <p:sp>
        <p:nvSpPr>
          <p:cNvPr id="77" name="Shape 74"/>
          <p:cNvSpPr/>
          <p:nvPr/>
        </p:nvSpPr>
        <p:spPr>
          <a:xfrm>
            <a:off x="347472" y="5486400"/>
            <a:ext cx="992124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78" name="Text 75"/>
          <p:cNvSpPr/>
          <p:nvPr/>
        </p:nvSpPr>
        <p:spPr>
          <a:xfrm>
            <a:off x="502920" y="55412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Sparta Debêntures Incentivadas Inflação</a:t>
            </a:r>
            <a:endParaRPr lang="en-US" sz="1000" dirty="0"/>
          </a:p>
        </p:txBody>
      </p:sp>
      <p:sp>
        <p:nvSpPr>
          <p:cNvPr id="79" name="Text 76"/>
          <p:cNvSpPr/>
          <p:nvPr/>
        </p:nvSpPr>
        <p:spPr>
          <a:xfrm>
            <a:off x="4251960" y="56052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R$ 100.434</a:t>
            </a:r>
            <a:endParaRPr lang="en-US" sz="1050" dirty="0"/>
          </a:p>
        </p:txBody>
      </p:sp>
      <p:sp>
        <p:nvSpPr>
          <p:cNvPr id="80" name="Text 77"/>
          <p:cNvSpPr/>
          <p:nvPr/>
        </p:nvSpPr>
        <p:spPr>
          <a:xfrm>
            <a:off x="5257800" y="56052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1,66%</a:t>
            </a:r>
            <a:endParaRPr lang="en-US" sz="1050" dirty="0"/>
          </a:p>
        </p:txBody>
      </p:sp>
      <p:sp>
        <p:nvSpPr>
          <p:cNvPr id="81" name="Text 78"/>
          <p:cNvSpPr/>
          <p:nvPr/>
        </p:nvSpPr>
        <p:spPr>
          <a:xfrm>
            <a:off x="6172200" y="56052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0,72%</a:t>
            </a:r>
            <a:endParaRPr lang="en-US" sz="1050" dirty="0"/>
          </a:p>
        </p:txBody>
      </p:sp>
      <p:sp>
        <p:nvSpPr>
          <p:cNvPr id="82" name="Text 79"/>
          <p:cNvSpPr/>
          <p:nvPr/>
        </p:nvSpPr>
        <p:spPr>
          <a:xfrm>
            <a:off x="7132320" y="56052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66,85%</a:t>
            </a:r>
            <a:endParaRPr lang="en-US" sz="1050" dirty="0"/>
          </a:p>
        </p:txBody>
      </p:sp>
      <p:sp>
        <p:nvSpPr>
          <p:cNvPr id="83" name="Text 80"/>
          <p:cNvSpPr/>
          <p:nvPr/>
        </p:nvSpPr>
        <p:spPr>
          <a:xfrm>
            <a:off x="8092440" y="56052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0,51%</a:t>
            </a:r>
            <a:endParaRPr lang="en-US" sz="1050" dirty="0"/>
          </a:p>
        </p:txBody>
      </p:sp>
      <p:sp>
        <p:nvSpPr>
          <p:cNvPr id="84" name="Text 81"/>
          <p:cNvSpPr/>
          <p:nvPr/>
        </p:nvSpPr>
        <p:spPr>
          <a:xfrm>
            <a:off x="9052560" y="56052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0,51%</a:t>
            </a:r>
            <a:endParaRPr lang="en-US" sz="1050" dirty="0"/>
          </a:p>
        </p:txBody>
      </p:sp>
      <p:sp>
        <p:nvSpPr>
          <p:cNvPr id="85" name="Shape 82"/>
          <p:cNvSpPr/>
          <p:nvPr/>
        </p:nvSpPr>
        <p:spPr>
          <a:xfrm>
            <a:off x="10314432" y="5486400"/>
            <a:ext cx="1508760" cy="493776"/>
          </a:xfrm>
          <a:prstGeom prst="roundRect">
            <a:avLst>
              <a:gd name="adj" fmla="val 14815"/>
            </a:avLst>
          </a:prstGeom>
          <a:solidFill>
            <a:srgbClr val="FDF2F0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86" name="Text 83"/>
          <p:cNvSpPr/>
          <p:nvPr/>
        </p:nvSpPr>
        <p:spPr>
          <a:xfrm>
            <a:off x="10378440" y="55778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Fraco vs IPCA</a:t>
            </a:r>
            <a:endParaRPr lang="en-US" sz="900" dirty="0"/>
          </a:p>
        </p:txBody>
      </p:sp>
      <p:sp>
        <p:nvSpPr>
          <p:cNvPr id="87" name="Shape 84"/>
          <p:cNvSpPr/>
          <p:nvPr/>
        </p:nvSpPr>
        <p:spPr>
          <a:xfrm>
            <a:off x="347472" y="6035040"/>
            <a:ext cx="548640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88" name="Text 85"/>
          <p:cNvSpPr/>
          <p:nvPr/>
        </p:nvSpPr>
        <p:spPr>
          <a:xfrm>
            <a:off x="502920" y="60624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🔶  Alternativo — BITI11 (Bitcoin ETF)</a:t>
            </a:r>
            <a:endParaRPr lang="en-US" sz="1100" dirty="0"/>
          </a:p>
        </p:txBody>
      </p:sp>
      <p:sp>
        <p:nvSpPr>
          <p:cNvPr id="89" name="Text 86"/>
          <p:cNvSpPr/>
          <p:nvPr/>
        </p:nvSpPr>
        <p:spPr>
          <a:xfrm>
            <a:off x="4160520" y="608076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R$ 23.060  |  0,38%  |  Mês: -1,99%  |  Ano: -23,81%  |  24M: +21,70%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451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Análise de Risco &amp; Diagnóstico da Carteira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73152"/>
            <a:ext cx="804672" cy="8961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braunainvestimentos.com.br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Ref.: 29/05/2026  |  Conta 294954  |  XP Unique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47472" y="1207008"/>
            <a:ext cx="1828800" cy="1298448"/>
          </a:xfrm>
          <a:prstGeom prst="roundRect">
            <a:avLst>
              <a:gd name="adj" fmla="val 8451"/>
            </a:avLst>
          </a:prstGeom>
          <a:solidFill>
            <a:srgbClr val="1A3533"/>
          </a:solidFill>
          <a:ln/>
          <a:effectLst>
            <a:outerShdw sx="100000" sy="100000" kx="0" ky="0" algn="bl" rotWithShape="0" blurRad="152400" dist="38100" dir="2700000">
              <a:srgbClr val="000000">
                <a:alpha val="11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129844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E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Volatilidade 12M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20624" y="153619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19,38%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420624" y="20116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ECE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— perfil arrojado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340864" y="1207008"/>
            <a:ext cx="1828800" cy="1298448"/>
          </a:xfrm>
          <a:prstGeom prst="roundRect">
            <a:avLst>
              <a:gd name="adj" fmla="val 8451"/>
            </a:avLst>
          </a:prstGeom>
          <a:solidFill>
            <a:srgbClr val="1A3533"/>
          </a:solidFill>
          <a:ln/>
          <a:effectLst>
            <a:outerShdw sx="100000" sy="100000" kx="0" ky="0" algn="bl" rotWithShape="0" blurRad="152400" dist="38100" dir="2700000">
              <a:srgbClr val="000000">
                <a:alpha val="11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450592" y="129844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E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Volatilidade 24M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414016" y="153619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17,94%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2414016" y="20116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ECE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Estrutural — não pontual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334256" y="1207008"/>
            <a:ext cx="1828800" cy="1298448"/>
          </a:xfrm>
          <a:prstGeom prst="roundRect">
            <a:avLst>
              <a:gd name="adj" fmla="val 8451"/>
            </a:avLst>
          </a:prstGeom>
          <a:solidFill>
            <a:srgbClr val="1A3533"/>
          </a:solidFill>
          <a:ln/>
          <a:effectLst>
            <a:outerShdw sx="100000" sy="100000" kx="0" ky="0" algn="bl" rotWithShape="0" blurRad="152400" dist="38100" dir="2700000">
              <a:srgbClr val="000000">
                <a:alpha val="11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443984" y="129844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E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Máx. Drawdown Mês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407408" y="153619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-11,28%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4407408" y="20116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ECE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maio/2025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327648" y="1207008"/>
            <a:ext cx="1828800" cy="1298448"/>
          </a:xfrm>
          <a:prstGeom prst="roundRect">
            <a:avLst>
              <a:gd name="adj" fmla="val 8451"/>
            </a:avLst>
          </a:prstGeom>
          <a:solidFill>
            <a:srgbClr val="1A3533"/>
          </a:solidFill>
          <a:ln/>
          <a:effectLst>
            <a:outerShdw sx="100000" sy="100000" kx="0" ky="0" algn="bl" rotWithShape="0" blurRad="152400" dist="38100" dir="2700000">
              <a:srgbClr val="000000">
                <a:alpha val="11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437376" y="129844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E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Máx. Retorno Mês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400800" y="153619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E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+10,23%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6400800" y="20116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ECE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janeiro/2026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8321040" y="1207008"/>
            <a:ext cx="1828800" cy="1298448"/>
          </a:xfrm>
          <a:prstGeom prst="roundRect">
            <a:avLst>
              <a:gd name="adj" fmla="val 8451"/>
            </a:avLst>
          </a:prstGeom>
          <a:solidFill>
            <a:srgbClr val="1A3533"/>
          </a:solidFill>
          <a:ln/>
          <a:effectLst>
            <a:outerShdw sx="100000" sy="100000" kx="0" ky="0" algn="bl" rotWithShape="0" blurRad="152400" dist="38100" dir="2700000">
              <a:srgbClr val="000000">
                <a:alpha val="11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8430768" y="129844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E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Tempo Acima CDI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8394192" y="153619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41,7%</a:t>
            </a:r>
            <a:endParaRPr lang="en-US" sz="2100" dirty="0"/>
          </a:p>
        </p:txBody>
      </p:sp>
      <p:sp>
        <p:nvSpPr>
          <p:cNvPr id="26" name="Text 23"/>
          <p:cNvSpPr/>
          <p:nvPr/>
        </p:nvSpPr>
        <p:spPr>
          <a:xfrm>
            <a:off x="8394192" y="20116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ECE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10/24 meses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10314432" y="1207008"/>
            <a:ext cx="1828800" cy="1298448"/>
          </a:xfrm>
          <a:prstGeom prst="roundRect">
            <a:avLst>
              <a:gd name="adj" fmla="val 8451"/>
            </a:avLst>
          </a:prstGeom>
          <a:solidFill>
            <a:srgbClr val="1A3533"/>
          </a:solidFill>
          <a:ln/>
          <a:effectLst>
            <a:outerShdw sx="100000" sy="100000" kx="0" ky="0" algn="bl" rotWithShape="0" blurRad="152400" dist="38100" dir="2700000">
              <a:srgbClr val="000000">
                <a:alpha val="11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10424160" y="129844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E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Acum. desde início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10387584" y="153619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E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+101,36%</a:t>
            </a:r>
            <a:endParaRPr lang="en-US" sz="2100" dirty="0"/>
          </a:p>
        </p:txBody>
      </p:sp>
      <p:sp>
        <p:nvSpPr>
          <p:cNvPr id="30" name="Text 27"/>
          <p:cNvSpPr/>
          <p:nvPr/>
        </p:nvSpPr>
        <p:spPr>
          <a:xfrm>
            <a:off x="10387584" y="20116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ECE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CDI: 80,31%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47472" y="2651760"/>
            <a:ext cx="5596128" cy="3246120"/>
          </a:xfrm>
          <a:prstGeom prst="roundRect">
            <a:avLst>
              <a:gd name="adj" fmla="val 3380"/>
            </a:avLst>
          </a:prstGeom>
          <a:solidFill>
            <a:srgbClr val="1A3533"/>
          </a:solidFill>
          <a:ln/>
        </p:spPr>
      </p:sp>
      <p:sp>
        <p:nvSpPr>
          <p:cNvPr id="32" name="Text 29"/>
          <p:cNvSpPr/>
          <p:nvPr/>
        </p:nvSpPr>
        <p:spPr>
          <a:xfrm>
            <a:off x="502920" y="27889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Diagnóstico: Concentração de Risco</a:t>
            </a:r>
            <a:endParaRPr lang="en-US" sz="130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384048" y="3182112"/>
          <a:ext cx="5486400" cy="23591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4" name="Shape 30"/>
          <p:cNvSpPr/>
          <p:nvPr/>
        </p:nvSpPr>
        <p:spPr>
          <a:xfrm>
            <a:off x="6080760" y="2651760"/>
            <a:ext cx="5742432" cy="3246120"/>
          </a:xfrm>
          <a:prstGeom prst="roundRect">
            <a:avLst>
              <a:gd name="adj" fmla="val 3380"/>
            </a:avLst>
          </a:prstGeom>
          <a:solidFill>
            <a:srgbClr val="1A3533"/>
          </a:solidFill>
          <a:ln/>
        </p:spPr>
      </p:sp>
      <p:sp>
        <p:nvSpPr>
          <p:cNvPr id="35" name="Text 31"/>
          <p:cNvSpPr/>
          <p:nvPr/>
        </p:nvSpPr>
        <p:spPr>
          <a:xfrm>
            <a:off x="6236208" y="278892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Pontos de Melhoria Identificados</a:t>
            </a:r>
            <a:endParaRPr lang="en-US" sz="1300" dirty="0"/>
          </a:p>
        </p:txBody>
      </p:sp>
      <p:sp>
        <p:nvSpPr>
          <p:cNvPr id="36" name="Text 32"/>
          <p:cNvSpPr/>
          <p:nvPr/>
        </p:nvSpPr>
        <p:spPr>
          <a:xfrm>
            <a:off x="6236208" y="3246120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</a:t>
            </a:r>
            <a:endParaRPr lang="en-US" sz="1600" dirty="0"/>
          </a:p>
        </p:txBody>
      </p:sp>
      <p:sp>
        <p:nvSpPr>
          <p:cNvPr id="37" name="Text 33"/>
          <p:cNvSpPr/>
          <p:nvPr/>
        </p:nvSpPr>
        <p:spPr>
          <a:xfrm>
            <a:off x="6601968" y="3264408"/>
            <a:ext cx="5102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Concentração extrema: </a:t>
            </a:r>
            <a:pPr indent="0" marL="0">
              <a:buNone/>
            </a:pPr>
            <a:r>
              <a:rPr lang="en-US" sz="1050" dirty="0">
                <a:solidFill>
                  <a:srgbClr val="C5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BBAS3 (50,42%) + VALE3 (17,34%) = 67,76% em 2 ativos. Queda dessas ações domina toda a performance.</a:t>
            </a:r>
            <a:endParaRPr lang="en-US" sz="1050" dirty="0"/>
          </a:p>
        </p:txBody>
      </p:sp>
      <p:sp>
        <p:nvSpPr>
          <p:cNvPr id="38" name="Text 34"/>
          <p:cNvSpPr/>
          <p:nvPr/>
        </p:nvSpPr>
        <p:spPr>
          <a:xfrm>
            <a:off x="6236208" y="3758184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</a:t>
            </a:r>
            <a:endParaRPr lang="en-US" sz="1600" dirty="0"/>
          </a:p>
        </p:txBody>
      </p:sp>
      <p:sp>
        <p:nvSpPr>
          <p:cNvPr id="39" name="Text 35"/>
          <p:cNvSpPr/>
          <p:nvPr/>
        </p:nvSpPr>
        <p:spPr>
          <a:xfrm>
            <a:off x="6601968" y="3776472"/>
            <a:ext cx="5102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A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Abaixo do CDI 24M: </a:t>
            </a:r>
            <a:pPr indent="0" marL="0">
              <a:buNone/>
            </a:pPr>
            <a:r>
              <a:rPr lang="en-US" sz="1050" dirty="0">
                <a:solidFill>
                  <a:srgbClr val="C5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Carteira rendeu 1,57% em 24M vs CDI 28,28%. Custo de oportunidade de ~R$ 1,5 MM no período.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6236208" y="4270248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</a:t>
            </a:r>
            <a:endParaRPr lang="en-US" sz="1600" dirty="0"/>
          </a:p>
        </p:txBody>
      </p:sp>
      <p:sp>
        <p:nvSpPr>
          <p:cNvPr id="41" name="Text 37"/>
          <p:cNvSpPr/>
          <p:nvPr/>
        </p:nvSpPr>
        <p:spPr>
          <a:xfrm>
            <a:off x="6601968" y="4288536"/>
            <a:ext cx="5102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Opções vendidas: </a:t>
            </a:r>
            <a:pPr indent="0" marL="0">
              <a:buNone/>
            </a:pPr>
            <a:r>
              <a:rPr lang="en-US" sz="1050" dirty="0">
                <a:solidFill>
                  <a:srgbClr val="C5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AXIAG450 (-R$5K), AXIAH450 (-R$17K), VALEF861 (-R$32K), VALEG846 (-R$1K) = -R$ 56K em perdas com derivativos.</a:t>
            </a:r>
            <a:endParaRPr lang="en-US" sz="1050" dirty="0"/>
          </a:p>
        </p:txBody>
      </p:sp>
      <p:sp>
        <p:nvSpPr>
          <p:cNvPr id="42" name="Text 38"/>
          <p:cNvSpPr/>
          <p:nvPr/>
        </p:nvSpPr>
        <p:spPr>
          <a:xfrm>
            <a:off x="6236208" y="478231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</a:t>
            </a:r>
            <a:endParaRPr lang="en-US" sz="1600" dirty="0"/>
          </a:p>
        </p:txBody>
      </p:sp>
      <p:sp>
        <p:nvSpPr>
          <p:cNvPr id="43" name="Text 39"/>
          <p:cNvSpPr/>
          <p:nvPr/>
        </p:nvSpPr>
        <p:spPr>
          <a:xfrm>
            <a:off x="6601968" y="4800600"/>
            <a:ext cx="5102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A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volatilidade: </a:t>
            </a:r>
            <a:pPr indent="0" marL="0">
              <a:buNone/>
            </a:pPr>
            <a:r>
              <a:rPr lang="en-US" sz="1050" dirty="0">
                <a:solidFill>
                  <a:srgbClr val="C5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19,38% vol. 12M é típica de carteira 100% ações. Diversificação classes reduziria volatilidade sem custo de retorno.</a:t>
            </a:r>
            <a:endParaRPr lang="en-US" sz="1050" dirty="0"/>
          </a:p>
        </p:txBody>
      </p:sp>
      <p:sp>
        <p:nvSpPr>
          <p:cNvPr id="44" name="Text 40"/>
          <p:cNvSpPr/>
          <p:nvPr/>
        </p:nvSpPr>
        <p:spPr>
          <a:xfrm>
            <a:off x="6236208" y="5294376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</a:t>
            </a:r>
            <a:endParaRPr lang="en-US" sz="1600" dirty="0"/>
          </a:p>
        </p:txBody>
      </p:sp>
      <p:sp>
        <p:nvSpPr>
          <p:cNvPr id="45" name="Text 41"/>
          <p:cNvSpPr/>
          <p:nvPr/>
        </p:nvSpPr>
        <p:spPr>
          <a:xfrm>
            <a:off x="6601968" y="5312664"/>
            <a:ext cx="5102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Destaques positivos: </a:t>
            </a:r>
            <a:pPr indent="0" marL="0">
              <a:buNone/>
            </a:pPr>
            <a:r>
              <a:rPr lang="en-US" sz="1050" dirty="0">
                <a:solidFill>
                  <a:srgbClr val="C5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BDRs de qualidade (GOGL34, ITLC34, AAPL34) e CSMG3 (+165% em 24M) mostram capacidade de seleção.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451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|  Rentabilidade Histórica — 2024 · 2025 · 2026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73152"/>
            <a:ext cx="804672" cy="8961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braunainvestimentos.com.br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Ref.: 29/05/2026  |  Conta 294954  |  XP Unique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1155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Rentabilidade mensal do portfólio vs CDI  |  Fonte: XP Performance Report 294954</a:t>
            </a:r>
            <a:endParaRPr lang="en-US" sz="11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47472" y="1481328"/>
          <a:ext cx="1147572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347472" y="5102352"/>
            <a:ext cx="114757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47472" y="5102352"/>
            <a:ext cx="11475720" cy="347472"/>
          </a:xfrm>
          <a:prstGeom prst="roundRect">
            <a:avLst>
              <a:gd name="adj" fmla="val 26316"/>
            </a:avLst>
          </a:prstGeom>
          <a:solidFill>
            <a:srgbClr val="14514F"/>
          </a:solidFill>
          <a:ln/>
        </p:spPr>
      </p:sp>
      <p:sp>
        <p:nvSpPr>
          <p:cNvPr id="11" name="Text 7"/>
          <p:cNvSpPr/>
          <p:nvPr/>
        </p:nvSpPr>
        <p:spPr>
          <a:xfrm>
            <a:off x="475488" y="5129784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1261872" y="5129784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1993392" y="5129784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2724912" y="5129784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3456432" y="5129784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4187952" y="5129784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4919472" y="5129784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5650992" y="5129784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6382512" y="5129784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7114032" y="5129784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7845552" y="5129784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8577072" y="5129784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9308592" y="5129784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10058400" y="5129784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10835640" y="5129784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Acum.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347472" y="5486400"/>
            <a:ext cx="11475720" cy="274320"/>
          </a:xfrm>
          <a:prstGeom prst="rect">
            <a:avLst/>
          </a:prstGeom>
          <a:solidFill>
            <a:srgbClr val="E8F5F3"/>
          </a:solidFill>
          <a:ln/>
        </p:spPr>
      </p:sp>
      <p:sp>
        <p:nvSpPr>
          <p:cNvPr id="27" name="Text 23"/>
          <p:cNvSpPr/>
          <p:nvPr/>
        </p:nvSpPr>
        <p:spPr>
          <a:xfrm>
            <a:off x="475488" y="552297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5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1261872" y="552297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10,23%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1993392" y="552297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4,26%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2724912" y="552297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-8,95%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3456432" y="552297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-1,58%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4187952" y="552297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-4,29%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4919472" y="552297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5650992" y="552297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6382512" y="552297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36" name="Text 32"/>
          <p:cNvSpPr/>
          <p:nvPr/>
        </p:nvSpPr>
        <p:spPr>
          <a:xfrm>
            <a:off x="7114032" y="552297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37" name="Text 33"/>
          <p:cNvSpPr/>
          <p:nvPr/>
        </p:nvSpPr>
        <p:spPr>
          <a:xfrm>
            <a:off x="7845552" y="552297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38" name="Text 34"/>
          <p:cNvSpPr/>
          <p:nvPr/>
        </p:nvSpPr>
        <p:spPr>
          <a:xfrm>
            <a:off x="8577072" y="552297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9308592" y="552297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40" name="Text 36"/>
          <p:cNvSpPr/>
          <p:nvPr/>
        </p:nvSpPr>
        <p:spPr>
          <a:xfrm>
            <a:off x="10058400" y="552297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-1,43%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10835640" y="552297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101,36%</a:t>
            </a:r>
            <a:endParaRPr lang="en-US" sz="850" dirty="0"/>
          </a:p>
        </p:txBody>
      </p:sp>
      <p:sp>
        <p:nvSpPr>
          <p:cNvPr id="42" name="Shape 38"/>
          <p:cNvSpPr/>
          <p:nvPr/>
        </p:nvSpPr>
        <p:spPr>
          <a:xfrm>
            <a:off x="347472" y="5760720"/>
            <a:ext cx="11475720" cy="274320"/>
          </a:xfrm>
          <a:prstGeom prst="rect">
            <a:avLst/>
          </a:prstGeom>
          <a:solidFill>
            <a:srgbClr val="F8FBFA"/>
          </a:solidFill>
          <a:ln/>
        </p:spPr>
      </p:sp>
      <p:sp>
        <p:nvSpPr>
          <p:cNvPr id="43" name="Text 39"/>
          <p:cNvSpPr/>
          <p:nvPr/>
        </p:nvSpPr>
        <p:spPr>
          <a:xfrm>
            <a:off x="475488" y="579729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5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850" dirty="0"/>
          </a:p>
        </p:txBody>
      </p:sp>
      <p:sp>
        <p:nvSpPr>
          <p:cNvPr id="44" name="Text 40"/>
          <p:cNvSpPr/>
          <p:nvPr/>
        </p:nvSpPr>
        <p:spPr>
          <a:xfrm>
            <a:off x="1261872" y="579729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9,92%</a:t>
            </a:r>
            <a:endParaRPr lang="en-US" sz="850" dirty="0"/>
          </a:p>
        </p:txBody>
      </p:sp>
      <p:sp>
        <p:nvSpPr>
          <p:cNvPr id="45" name="Text 41"/>
          <p:cNvSpPr/>
          <p:nvPr/>
        </p:nvSpPr>
        <p:spPr>
          <a:xfrm>
            <a:off x="1993392" y="579729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-1,54%</a:t>
            </a:r>
            <a:endParaRPr lang="en-US" sz="850" dirty="0"/>
          </a:p>
        </p:txBody>
      </p:sp>
      <p:sp>
        <p:nvSpPr>
          <p:cNvPr id="46" name="Text 42"/>
          <p:cNvSpPr/>
          <p:nvPr/>
        </p:nvSpPr>
        <p:spPr>
          <a:xfrm>
            <a:off x="2724912" y="579729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4,03%</a:t>
            </a:r>
            <a:endParaRPr lang="en-US" sz="850" dirty="0"/>
          </a:p>
        </p:txBody>
      </p:sp>
      <p:sp>
        <p:nvSpPr>
          <p:cNvPr id="47" name="Text 43"/>
          <p:cNvSpPr/>
          <p:nvPr/>
        </p:nvSpPr>
        <p:spPr>
          <a:xfrm>
            <a:off x="3456432" y="579729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3,02%</a:t>
            </a:r>
            <a:endParaRPr lang="en-US" sz="850" dirty="0"/>
          </a:p>
        </p:txBody>
      </p:sp>
      <p:sp>
        <p:nvSpPr>
          <p:cNvPr id="48" name="Text 44"/>
          <p:cNvSpPr/>
          <p:nvPr/>
        </p:nvSpPr>
        <p:spPr>
          <a:xfrm>
            <a:off x="4187952" y="579729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-11,28%</a:t>
            </a:r>
            <a:endParaRPr lang="en-US" sz="850" dirty="0"/>
          </a:p>
        </p:txBody>
      </p:sp>
      <p:sp>
        <p:nvSpPr>
          <p:cNvPr id="49" name="Text 45"/>
          <p:cNvSpPr/>
          <p:nvPr/>
        </p:nvSpPr>
        <p:spPr>
          <a:xfrm>
            <a:off x="4919472" y="579729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-2,21%</a:t>
            </a:r>
            <a:endParaRPr lang="en-US" sz="850" dirty="0"/>
          </a:p>
        </p:txBody>
      </p:sp>
      <p:sp>
        <p:nvSpPr>
          <p:cNvPr id="50" name="Text 46"/>
          <p:cNvSpPr/>
          <p:nvPr/>
        </p:nvSpPr>
        <p:spPr>
          <a:xfrm>
            <a:off x="5650992" y="579729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-6,35%</a:t>
            </a:r>
            <a:endParaRPr lang="en-US" sz="850" dirty="0"/>
          </a:p>
        </p:txBody>
      </p:sp>
      <p:sp>
        <p:nvSpPr>
          <p:cNvPr id="51" name="Text 47"/>
          <p:cNvSpPr/>
          <p:nvPr/>
        </p:nvSpPr>
        <p:spPr>
          <a:xfrm>
            <a:off x="6382512" y="579729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6,56%</a:t>
            </a:r>
            <a:endParaRPr lang="en-US" sz="850" dirty="0"/>
          </a:p>
        </p:txBody>
      </p:sp>
      <p:sp>
        <p:nvSpPr>
          <p:cNvPr id="52" name="Text 48"/>
          <p:cNvSpPr/>
          <p:nvPr/>
        </p:nvSpPr>
        <p:spPr>
          <a:xfrm>
            <a:off x="7114032" y="579729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3,14%</a:t>
            </a:r>
            <a:endParaRPr lang="en-US" sz="850" dirty="0"/>
          </a:p>
        </p:txBody>
      </p:sp>
      <p:sp>
        <p:nvSpPr>
          <p:cNvPr id="53" name="Text 49"/>
          <p:cNvSpPr/>
          <p:nvPr/>
        </p:nvSpPr>
        <p:spPr>
          <a:xfrm>
            <a:off x="7845552" y="579729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1,73%</a:t>
            </a:r>
            <a:endParaRPr lang="en-US" sz="850" dirty="0"/>
          </a:p>
        </p:txBody>
      </p:sp>
      <p:sp>
        <p:nvSpPr>
          <p:cNvPr id="54" name="Text 50"/>
          <p:cNvSpPr/>
          <p:nvPr/>
        </p:nvSpPr>
        <p:spPr>
          <a:xfrm>
            <a:off x="8577072" y="579729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1,91%</a:t>
            </a:r>
            <a:endParaRPr lang="en-US" sz="850" dirty="0"/>
          </a:p>
        </p:txBody>
      </p:sp>
      <p:sp>
        <p:nvSpPr>
          <p:cNvPr id="55" name="Text 51"/>
          <p:cNvSpPr/>
          <p:nvPr/>
        </p:nvSpPr>
        <p:spPr>
          <a:xfrm>
            <a:off x="9308592" y="579729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0,33%</a:t>
            </a:r>
            <a:endParaRPr lang="en-US" sz="850" dirty="0"/>
          </a:p>
        </p:txBody>
      </p:sp>
      <p:sp>
        <p:nvSpPr>
          <p:cNvPr id="56" name="Text 52"/>
          <p:cNvSpPr/>
          <p:nvPr/>
        </p:nvSpPr>
        <p:spPr>
          <a:xfrm>
            <a:off x="10058400" y="579729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7,72%</a:t>
            </a:r>
            <a:endParaRPr lang="en-US" sz="850" dirty="0"/>
          </a:p>
        </p:txBody>
      </p:sp>
      <p:sp>
        <p:nvSpPr>
          <p:cNvPr id="57" name="Text 53"/>
          <p:cNvSpPr/>
          <p:nvPr/>
        </p:nvSpPr>
        <p:spPr>
          <a:xfrm>
            <a:off x="10835640" y="579729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104,27%</a:t>
            </a:r>
            <a:endParaRPr lang="en-US" sz="850" dirty="0"/>
          </a:p>
        </p:txBody>
      </p:sp>
      <p:sp>
        <p:nvSpPr>
          <p:cNvPr id="58" name="Shape 54"/>
          <p:cNvSpPr/>
          <p:nvPr/>
        </p:nvSpPr>
        <p:spPr>
          <a:xfrm>
            <a:off x="347472" y="6035040"/>
            <a:ext cx="114757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5"/>
          <p:cNvSpPr/>
          <p:nvPr/>
        </p:nvSpPr>
        <p:spPr>
          <a:xfrm>
            <a:off x="475488" y="607161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5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850" dirty="0"/>
          </a:p>
        </p:txBody>
      </p:sp>
      <p:sp>
        <p:nvSpPr>
          <p:cNvPr id="60" name="Text 56"/>
          <p:cNvSpPr/>
          <p:nvPr/>
        </p:nvSpPr>
        <p:spPr>
          <a:xfrm>
            <a:off x="1261872" y="607161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-0,34%</a:t>
            </a:r>
            <a:endParaRPr lang="en-US" sz="850" dirty="0"/>
          </a:p>
        </p:txBody>
      </p:sp>
      <p:sp>
        <p:nvSpPr>
          <p:cNvPr id="61" name="Text 57"/>
          <p:cNvSpPr/>
          <p:nvPr/>
        </p:nvSpPr>
        <p:spPr>
          <a:xfrm>
            <a:off x="1993392" y="607161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2,90%</a:t>
            </a:r>
            <a:endParaRPr lang="en-US" sz="850" dirty="0"/>
          </a:p>
        </p:txBody>
      </p:sp>
      <p:sp>
        <p:nvSpPr>
          <p:cNvPr id="62" name="Text 58"/>
          <p:cNvSpPr/>
          <p:nvPr/>
        </p:nvSpPr>
        <p:spPr>
          <a:xfrm>
            <a:off x="2724912" y="607161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0,10%</a:t>
            </a:r>
            <a:endParaRPr lang="en-US" sz="850" dirty="0"/>
          </a:p>
        </p:txBody>
      </p:sp>
      <p:sp>
        <p:nvSpPr>
          <p:cNvPr id="63" name="Text 59"/>
          <p:cNvSpPr/>
          <p:nvPr/>
        </p:nvSpPr>
        <p:spPr>
          <a:xfrm>
            <a:off x="3456432" y="607161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-2,73%</a:t>
            </a:r>
            <a:endParaRPr lang="en-US" sz="850" dirty="0"/>
          </a:p>
        </p:txBody>
      </p:sp>
      <p:sp>
        <p:nvSpPr>
          <p:cNvPr id="64" name="Text 60"/>
          <p:cNvSpPr/>
          <p:nvPr/>
        </p:nvSpPr>
        <p:spPr>
          <a:xfrm>
            <a:off x="4187952" y="607161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-0,52%</a:t>
            </a:r>
            <a:endParaRPr lang="en-US" sz="850" dirty="0"/>
          </a:p>
        </p:txBody>
      </p:sp>
      <p:sp>
        <p:nvSpPr>
          <p:cNvPr id="65" name="Text 61"/>
          <p:cNvSpPr/>
          <p:nvPr/>
        </p:nvSpPr>
        <p:spPr>
          <a:xfrm>
            <a:off x="4919472" y="607161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0,61%</a:t>
            </a:r>
            <a:endParaRPr lang="en-US" sz="850" dirty="0"/>
          </a:p>
        </p:txBody>
      </p:sp>
      <p:sp>
        <p:nvSpPr>
          <p:cNvPr id="66" name="Text 62"/>
          <p:cNvSpPr/>
          <p:nvPr/>
        </p:nvSpPr>
        <p:spPr>
          <a:xfrm>
            <a:off x="5650992" y="607161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0,24%</a:t>
            </a:r>
            <a:endParaRPr lang="en-US" sz="850" dirty="0"/>
          </a:p>
        </p:txBody>
      </p:sp>
      <p:sp>
        <p:nvSpPr>
          <p:cNvPr id="67" name="Text 63"/>
          <p:cNvSpPr/>
          <p:nvPr/>
        </p:nvSpPr>
        <p:spPr>
          <a:xfrm>
            <a:off x="6382512" y="607161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5,81%</a:t>
            </a:r>
            <a:endParaRPr lang="en-US" sz="850" dirty="0"/>
          </a:p>
        </p:txBody>
      </p:sp>
      <p:sp>
        <p:nvSpPr>
          <p:cNvPr id="68" name="Text 64"/>
          <p:cNvSpPr/>
          <p:nvPr/>
        </p:nvSpPr>
        <p:spPr>
          <a:xfrm>
            <a:off x="7114032" y="607161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-1,73%</a:t>
            </a:r>
            <a:endParaRPr lang="en-US" sz="850" dirty="0"/>
          </a:p>
        </p:txBody>
      </p:sp>
      <p:sp>
        <p:nvSpPr>
          <p:cNvPr id="69" name="Text 65"/>
          <p:cNvSpPr/>
          <p:nvPr/>
        </p:nvSpPr>
        <p:spPr>
          <a:xfrm>
            <a:off x="7845552" y="607161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-1,68%</a:t>
            </a:r>
            <a:endParaRPr lang="en-US" sz="850" dirty="0"/>
          </a:p>
        </p:txBody>
      </p:sp>
      <p:sp>
        <p:nvSpPr>
          <p:cNvPr id="70" name="Text 66"/>
          <p:cNvSpPr/>
          <p:nvPr/>
        </p:nvSpPr>
        <p:spPr>
          <a:xfrm>
            <a:off x="8577072" y="607161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-3,55%</a:t>
            </a:r>
            <a:endParaRPr lang="en-US" sz="850" dirty="0"/>
          </a:p>
        </p:txBody>
      </p:sp>
      <p:sp>
        <p:nvSpPr>
          <p:cNvPr id="71" name="Text 67"/>
          <p:cNvSpPr/>
          <p:nvPr/>
        </p:nvSpPr>
        <p:spPr>
          <a:xfrm>
            <a:off x="9308592" y="607161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-3,81%</a:t>
            </a:r>
            <a:endParaRPr lang="en-US" sz="850" dirty="0"/>
          </a:p>
        </p:txBody>
      </p:sp>
      <p:sp>
        <p:nvSpPr>
          <p:cNvPr id="72" name="Text 68"/>
          <p:cNvSpPr/>
          <p:nvPr/>
        </p:nvSpPr>
        <p:spPr>
          <a:xfrm>
            <a:off x="10058400" y="607161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-4,98%</a:t>
            </a:r>
            <a:endParaRPr lang="en-US" sz="850" dirty="0"/>
          </a:p>
        </p:txBody>
      </p:sp>
      <p:sp>
        <p:nvSpPr>
          <p:cNvPr id="73" name="Text 69"/>
          <p:cNvSpPr/>
          <p:nvPr/>
        </p:nvSpPr>
        <p:spPr>
          <a:xfrm>
            <a:off x="10835640" y="607161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89,64%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451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|  Estruturação Financeira — Pirâmide de Objetivos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73152"/>
            <a:ext cx="804672" cy="8961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braunainvestimentos.com.br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Ref.: 29/05/2026  |  Conta 294954  |  XP Unique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1155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carteira de R$ 6,07 MM é apenas uma das camadas. Precisamos olhar o conjunto.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965960" y="1481328"/>
            <a:ext cx="3840480" cy="594360"/>
          </a:xfrm>
          <a:prstGeom prst="rect">
            <a:avLst/>
          </a:prstGeom>
          <a:solidFill>
            <a:srgbClr val="1A5C5A"/>
          </a:solidFill>
          <a:ln/>
        </p:spPr>
      </p:sp>
      <p:sp>
        <p:nvSpPr>
          <p:cNvPr id="9" name="Text 6"/>
          <p:cNvSpPr/>
          <p:nvPr/>
        </p:nvSpPr>
        <p:spPr>
          <a:xfrm>
            <a:off x="2057400" y="148132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Legado Familiar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508760" y="2148840"/>
            <a:ext cx="4754880" cy="594360"/>
          </a:xfrm>
          <a:prstGeom prst="rect">
            <a:avLst/>
          </a:prstGeom>
          <a:solidFill>
            <a:srgbClr val="1C6B67"/>
          </a:solidFill>
          <a:ln/>
        </p:spPr>
      </p:sp>
      <p:sp>
        <p:nvSpPr>
          <p:cNvPr id="11" name="Text 8"/>
          <p:cNvSpPr/>
          <p:nvPr/>
        </p:nvSpPr>
        <p:spPr>
          <a:xfrm>
            <a:off x="1600200" y="21488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Investimentos &amp; Patrimônio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51560" y="2816352"/>
            <a:ext cx="5669280" cy="594360"/>
          </a:xfrm>
          <a:prstGeom prst="rect">
            <a:avLst/>
          </a:prstGeom>
          <a:solidFill>
            <a:srgbClr val="29897F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2816352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de Longo Prazo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85800" y="3483864"/>
            <a:ext cx="6400800" cy="594360"/>
          </a:xfrm>
          <a:prstGeom prst="rect">
            <a:avLst/>
          </a:prstGeom>
          <a:solidFill>
            <a:srgbClr val="3EB8A8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3483864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de Médio Prazo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4151376"/>
            <a:ext cx="6858000" cy="594360"/>
          </a:xfrm>
          <a:prstGeom prst="rect">
            <a:avLst/>
          </a:prstGeom>
          <a:solidFill>
            <a:srgbClr val="C8A733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4151376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de Emergência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4818888"/>
            <a:ext cx="6858000" cy="5943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" y="4818888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Financeira (Seguro)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5486400"/>
            <a:ext cx="6858000" cy="59436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54864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Saúde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818120" y="14173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&amp; Próximas Ações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818120" y="182880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973568" y="18745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Plano de Saúde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973568" y="213969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 — revisar cobertura anualmente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7818120" y="2450592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973568" y="24963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Proteção Financeira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973568" y="27614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Apólice vigente — avaliar atualização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7818120" y="3072384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7973568" y="31181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Reserva de Emergência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973568" y="33832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Constituída (6M+ custos em liquidez)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7818120" y="3694176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7973568" y="37398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Reserva de Médio Prazo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7973568" y="40050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construção — sugerir CDB/LC 90d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7818120" y="4315968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7973568" y="43616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Investimentos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973568" y="462686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Carteira XP R$ 6,07 MM ativa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7818120" y="493776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7973568" y="4983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Reserva de Longo Prazo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7973568" y="52486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previdência e IPCA+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7818120" y="5559552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7973568" y="56052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Legado Familiar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7973568" y="58704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 holding e sucessão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451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|  Estratégias &amp; Recomendações — 2º Semestre 2026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73152"/>
            <a:ext cx="804672" cy="8961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braunainvestimentos.com.br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Ref.: 29/05/2026  |  Conta 294954  |  XP Unique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1155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A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Baseadas na análise da carteira atual e no cenário macroeconômico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7472" y="1481328"/>
            <a:ext cx="5687568" cy="2331720"/>
          </a:xfrm>
          <a:prstGeom prst="roundRect">
            <a:avLst>
              <a:gd name="adj" fmla="val 4706"/>
            </a:avLst>
          </a:prstGeom>
          <a:solidFill>
            <a:srgbClr val="1A3533"/>
          </a:solidFill>
          <a:ln/>
          <a:effectLst>
            <a:outerShdw sx="100000" sy="100000" kx="0" ky="0" algn="bl" rotWithShape="0" blurRad="152400" dist="38100" dir="2700000">
              <a:srgbClr val="000000">
                <a:alpha val="11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7472" y="1481328"/>
            <a:ext cx="5687568" cy="457200"/>
          </a:xfrm>
          <a:prstGeom prst="roundRect">
            <a:avLst>
              <a:gd name="adj" fmla="val 24000"/>
            </a:avLst>
          </a:prstGeom>
          <a:solidFill>
            <a:srgbClr val="C0392B"/>
          </a:solidFill>
          <a:ln/>
        </p:spPr>
      </p:sp>
      <p:sp>
        <p:nvSpPr>
          <p:cNvPr id="10" name="Text 7"/>
          <p:cNvSpPr/>
          <p:nvPr/>
        </p:nvSpPr>
        <p:spPr>
          <a:xfrm>
            <a:off x="512064" y="148132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Rebalanceamento Urgente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30352" y="2103120"/>
            <a:ext cx="182880" cy="1828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2048256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BBAS3 de 50% para ~35% gradualmente — aproveitar recuperação do papel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30352" y="2670048"/>
            <a:ext cx="182880" cy="1828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2615184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posições em opções (AXIA, VALE derivativos) — losses acumulados de ~R$56K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30352" y="3236976"/>
            <a:ext cx="182880" cy="1828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318211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Realocar R$ 500-700K de BBAS3 para diversificação setorial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263640" y="1481328"/>
            <a:ext cx="5687568" cy="2331720"/>
          </a:xfrm>
          <a:prstGeom prst="roundRect">
            <a:avLst>
              <a:gd name="adj" fmla="val 4706"/>
            </a:avLst>
          </a:prstGeom>
          <a:solidFill>
            <a:srgbClr val="1A3533"/>
          </a:solidFill>
          <a:ln/>
          <a:effectLst>
            <a:outerShdw sx="100000" sy="100000" kx="0" ky="0" algn="bl" rotWithShape="0" blurRad="152400" dist="38100" dir="2700000">
              <a:srgbClr val="000000">
                <a:alpha val="11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63640" y="1481328"/>
            <a:ext cx="5687568" cy="457200"/>
          </a:xfrm>
          <a:prstGeom prst="roundRect">
            <a:avLst>
              <a:gd name="adj" fmla="val 24000"/>
            </a:avLst>
          </a:prstGeom>
          <a:solidFill>
            <a:srgbClr val="C8A733"/>
          </a:solidFill>
          <a:ln/>
        </p:spPr>
      </p:sp>
      <p:sp>
        <p:nvSpPr>
          <p:cNvPr id="19" name="Text 16"/>
          <p:cNvSpPr/>
          <p:nvPr/>
        </p:nvSpPr>
        <p:spPr>
          <a:xfrm>
            <a:off x="6428232" y="148132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Ampliar Renda Fixa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446520" y="2103120"/>
            <a:ext cx="182880" cy="182880"/>
          </a:xfrm>
          <a:prstGeom prst="ellipse">
            <a:avLst/>
          </a:prstGeom>
          <a:solidFill>
            <a:srgbClr val="C8A733"/>
          </a:solidFill>
          <a:ln/>
        </p:spPr>
      </p:sp>
      <p:sp>
        <p:nvSpPr>
          <p:cNvPr id="21" name="Text 18"/>
          <p:cNvSpPr/>
          <p:nvPr/>
        </p:nvSpPr>
        <p:spPr>
          <a:xfrm>
            <a:off x="6739128" y="2048256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Elevar alocação em RF de 8,79% para ~15-20% aproveitando taxas ainda altas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446520" y="2670048"/>
            <a:ext cx="182880" cy="182880"/>
          </a:xfrm>
          <a:prstGeom prst="ellipse">
            <a:avLst/>
          </a:prstGeom>
          <a:solidFill>
            <a:srgbClr val="C8A733"/>
          </a:solidFill>
          <a:ln/>
        </p:spPr>
      </p:sp>
      <p:sp>
        <p:nvSpPr>
          <p:cNvPr id="23" name="Text 20"/>
          <p:cNvSpPr/>
          <p:nvPr/>
        </p:nvSpPr>
        <p:spPr>
          <a:xfrm>
            <a:off x="6739128" y="2615184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IPCA+ longo (NTN-B 2035+) para proteção e diversificação de risco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446520" y="3236976"/>
            <a:ext cx="182880" cy="182880"/>
          </a:xfrm>
          <a:prstGeom prst="ellipse">
            <a:avLst/>
          </a:prstGeom>
          <a:solidFill>
            <a:srgbClr val="C8A733"/>
          </a:solidFill>
          <a:ln/>
        </p:spPr>
      </p:sp>
      <p:sp>
        <p:nvSpPr>
          <p:cNvPr id="25" name="Text 22"/>
          <p:cNvSpPr/>
          <p:nvPr/>
        </p:nvSpPr>
        <p:spPr>
          <a:xfrm>
            <a:off x="6739128" y="318211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LCIs/LCAs e CRIs para aumentar % de rendimentos isentos de IR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47472" y="4005072"/>
            <a:ext cx="5687568" cy="2331720"/>
          </a:xfrm>
          <a:prstGeom prst="roundRect">
            <a:avLst>
              <a:gd name="adj" fmla="val 4706"/>
            </a:avLst>
          </a:prstGeom>
          <a:solidFill>
            <a:srgbClr val="1A3533"/>
          </a:solidFill>
          <a:ln/>
          <a:effectLst>
            <a:outerShdw sx="100000" sy="100000" kx="0" ky="0" algn="bl" rotWithShape="0" blurRad="152400" dist="38100" dir="2700000">
              <a:srgbClr val="000000">
                <a:alpha val="11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47472" y="4005072"/>
            <a:ext cx="5687568" cy="457200"/>
          </a:xfrm>
          <a:prstGeom prst="roundRect">
            <a:avLst>
              <a:gd name="adj" fmla="val 24000"/>
            </a:avLst>
          </a:prstGeom>
          <a:solidFill>
            <a:srgbClr val="29897F"/>
          </a:solidFill>
          <a:ln/>
        </p:spPr>
      </p:sp>
      <p:sp>
        <p:nvSpPr>
          <p:cNvPr id="28" name="Text 25"/>
          <p:cNvSpPr/>
          <p:nvPr/>
        </p:nvSpPr>
        <p:spPr>
          <a:xfrm>
            <a:off x="512064" y="400507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Diversificação Setorial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30352" y="4626864"/>
            <a:ext cx="182880" cy="182880"/>
          </a:xfrm>
          <a:prstGeom prst="ellipse">
            <a:avLst/>
          </a:prstGeom>
          <a:solidFill>
            <a:srgbClr val="29897F"/>
          </a:solidFill>
          <a:ln/>
        </p:spPr>
      </p:sp>
      <p:sp>
        <p:nvSpPr>
          <p:cNvPr id="30" name="Text 27"/>
          <p:cNvSpPr/>
          <p:nvPr/>
        </p:nvSpPr>
        <p:spPr>
          <a:xfrm>
            <a:off x="822960" y="457200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GOGL34, AAPL34, NVDC34 — BDRs de qualidade com performance histórica sólida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530352" y="5193792"/>
            <a:ext cx="182880" cy="182880"/>
          </a:xfrm>
          <a:prstGeom prst="ellipse">
            <a:avLst/>
          </a:prstGeom>
          <a:solidFill>
            <a:srgbClr val="29897F"/>
          </a:solidFill>
          <a:ln/>
        </p:spPr>
      </p:sp>
      <p:sp>
        <p:nvSpPr>
          <p:cNvPr id="32" name="Text 29"/>
          <p:cNvSpPr/>
          <p:nvPr/>
        </p:nvSpPr>
        <p:spPr>
          <a:xfrm>
            <a:off x="822960" y="513892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de utilities BR: CSMG3 (+165% 24M), CPLE3 — descorrelação de BBAS3/VALE3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30352" y="5760720"/>
            <a:ext cx="182880" cy="182880"/>
          </a:xfrm>
          <a:prstGeom prst="ellipse">
            <a:avLst/>
          </a:prstGeom>
          <a:solidFill>
            <a:srgbClr val="29897F"/>
          </a:solidFill>
          <a:ln/>
        </p:spPr>
      </p:sp>
      <p:sp>
        <p:nvSpPr>
          <p:cNvPr id="34" name="Text 31"/>
          <p:cNvSpPr/>
          <p:nvPr/>
        </p:nvSpPr>
        <p:spPr>
          <a:xfrm>
            <a:off x="822960" y="5705856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FIIs de tijolo / CRI para renda passiva e diversificação imobiliária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6263640" y="4005072"/>
            <a:ext cx="5687568" cy="2331720"/>
          </a:xfrm>
          <a:prstGeom prst="roundRect">
            <a:avLst>
              <a:gd name="adj" fmla="val 4706"/>
            </a:avLst>
          </a:prstGeom>
          <a:solidFill>
            <a:srgbClr val="1A3533"/>
          </a:solidFill>
          <a:ln/>
          <a:effectLst>
            <a:outerShdw sx="100000" sy="100000" kx="0" ky="0" algn="bl" rotWithShape="0" blurRad="152400" dist="38100" dir="2700000">
              <a:srgbClr val="000000">
                <a:alpha val="11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263640" y="4005072"/>
            <a:ext cx="5687568" cy="457200"/>
          </a:xfrm>
          <a:prstGeom prst="roundRect">
            <a:avLst>
              <a:gd name="adj" fmla="val 24000"/>
            </a:avLst>
          </a:prstGeom>
          <a:solidFill>
            <a:srgbClr val="1C6B67"/>
          </a:solidFill>
          <a:ln/>
        </p:spPr>
      </p:sp>
      <p:sp>
        <p:nvSpPr>
          <p:cNvPr id="37" name="Text 34"/>
          <p:cNvSpPr/>
          <p:nvPr/>
        </p:nvSpPr>
        <p:spPr>
          <a:xfrm>
            <a:off x="6428232" y="400507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Previdência &amp; Proteção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446520" y="4626864"/>
            <a:ext cx="182880" cy="182880"/>
          </a:xfrm>
          <a:prstGeom prst="ellipse">
            <a:avLst/>
          </a:prstGeom>
          <a:solidFill>
            <a:srgbClr val="1C6B67"/>
          </a:solidFill>
          <a:ln/>
        </p:spPr>
      </p:sp>
      <p:sp>
        <p:nvSpPr>
          <p:cNvPr id="39" name="Text 36"/>
          <p:cNvSpPr/>
          <p:nvPr/>
        </p:nvSpPr>
        <p:spPr>
          <a:xfrm>
            <a:off x="6739128" y="457200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PGBL 2026: aproveitar dedução fiscal — até 12% da renda bruta tributável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6446520" y="5193792"/>
            <a:ext cx="182880" cy="182880"/>
          </a:xfrm>
          <a:prstGeom prst="ellipse">
            <a:avLst/>
          </a:prstGeom>
          <a:solidFill>
            <a:srgbClr val="1C6B67"/>
          </a:solidFill>
          <a:ln/>
        </p:spPr>
      </p:sp>
      <p:sp>
        <p:nvSpPr>
          <p:cNvPr id="41" name="Text 38"/>
          <p:cNvSpPr/>
          <p:nvPr/>
        </p:nvSpPr>
        <p:spPr>
          <a:xfrm>
            <a:off x="6739128" y="513892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apólice de seguro de vida: patrimônio de R$6MM exige cobertura adequada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6446520" y="5760720"/>
            <a:ext cx="182880" cy="182880"/>
          </a:xfrm>
          <a:prstGeom prst="ellipse">
            <a:avLst/>
          </a:prstGeom>
          <a:solidFill>
            <a:srgbClr val="1C6B67"/>
          </a:solidFill>
          <a:ln/>
        </p:spPr>
      </p:sp>
      <p:sp>
        <p:nvSpPr>
          <p:cNvPr id="43" name="Text 40"/>
          <p:cNvSpPr/>
          <p:nvPr/>
        </p:nvSpPr>
        <p:spPr>
          <a:xfrm>
            <a:off x="6739128" y="5705856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 estrutura de holding PJ para otimização tributária do patrimônio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451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|  Ecossistema Braúna — Muito Além dos Investimentos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73152"/>
            <a:ext cx="804672" cy="8961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braunainvestimentos.com.br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Ref.: 29/05/2026  |  Conta 294954  |  XP Unique</a:t>
            </a:r>
            <a:endParaRPr lang="en-US" sz="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143000"/>
            <a:ext cx="5943600" cy="33375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46520" y="1170432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A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Soluções que agregam valor ao seu patrimônio de R$ 6 MM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446520" y="1572768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1A3533"/>
          </a:solidFill>
          <a:ln/>
          <a:effectLst>
            <a:outerShdw sx="100000" sy="100000" kx="0" ky="0" algn="bl" rotWithShape="0" blurRad="152400" dist="38100" dir="2700000">
              <a:srgbClr val="000000">
                <a:alpha val="11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583680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583680" y="21214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Assessoria Invest.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583680" y="242316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Carteiras personalizadas, rebalanceamento e acompanhamento contínuo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9235440" y="1572768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1A3533"/>
          </a:solidFill>
          <a:ln/>
          <a:effectLst>
            <a:outerShdw sx="100000" sy="100000" kx="0" ky="0" algn="bl" rotWithShape="0" blurRad="152400" dist="38100" dir="2700000">
              <a:srgbClr val="000000">
                <a:alpha val="11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9372600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9372600" y="21214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Seguros &amp; Proteção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9372600" y="242316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Vida, saúde e patrimônio — apólices revisadas e atualizadas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446520" y="2990088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1A3533"/>
          </a:solidFill>
          <a:ln/>
          <a:effectLst>
            <a:outerShdw sx="100000" sy="100000" kx="0" ky="0" algn="bl" rotWithShape="0" blurRad="152400" dist="38100" dir="2700000">
              <a:srgbClr val="000000">
                <a:alpha val="11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6583680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6583680" y="353872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Consultoria PJ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583680" y="384048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caixa, conta PJ e planejamento tributário empresarial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9235440" y="2990088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1A3533"/>
          </a:solidFill>
          <a:ln/>
          <a:effectLst>
            <a:outerShdw sx="100000" sy="100000" kx="0" ky="0" algn="bl" rotWithShape="0" blurRad="152400" dist="38100" dir="2700000">
              <a:srgbClr val="000000">
                <a:alpha val="11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9372600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23" name="Text 19"/>
          <p:cNvSpPr/>
          <p:nvPr/>
        </p:nvSpPr>
        <p:spPr>
          <a:xfrm>
            <a:off x="9372600" y="353872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9372600" y="384048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com garantia em ativos — taxas mais competitivas que banco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6446520" y="4407408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1A3533"/>
          </a:solidFill>
          <a:ln/>
          <a:effectLst>
            <a:outerShdw sx="100000" sy="100000" kx="0" ky="0" algn="bl" rotWithShape="0" blurRad="152400" dist="38100" dir="2700000">
              <a:srgbClr val="000000">
                <a:alpha val="11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658368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27" name="Text 23"/>
          <p:cNvSpPr/>
          <p:nvPr/>
        </p:nvSpPr>
        <p:spPr>
          <a:xfrm>
            <a:off x="6583680" y="49560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Câmbio &amp; Global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6583680" y="525780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Remessas, BDRs, ETFs globais e diversificação internacional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9235440" y="4407408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1A3533"/>
          </a:solidFill>
          <a:ln/>
          <a:effectLst>
            <a:outerShdw sx="100000" sy="100000" kx="0" ky="0" algn="bl" rotWithShape="0" blurRad="152400" dist="38100" dir="2700000">
              <a:srgbClr val="000000">
                <a:alpha val="11000"/>
              </a:srgbClr>
            </a:outerShdw>
          </a:effectLst>
        </p:spPr>
      </p:sp>
      <p:sp>
        <p:nvSpPr>
          <p:cNvPr id="30" name="Text 26"/>
          <p:cNvSpPr/>
          <p:nvPr/>
        </p:nvSpPr>
        <p:spPr>
          <a:xfrm>
            <a:off x="937260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31" name="Text 27"/>
          <p:cNvSpPr/>
          <p:nvPr/>
        </p:nvSpPr>
        <p:spPr>
          <a:xfrm>
            <a:off x="9372600" y="49560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Planej. Sucessório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9372600" y="525780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familiar, testamento, inventário e estruturação do legado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256032" y="4617720"/>
            <a:ext cx="11658600" cy="685800"/>
          </a:xfrm>
          <a:prstGeom prst="roundRect">
            <a:avLst>
              <a:gd name="adj" fmla="val 13333"/>
            </a:avLst>
          </a:prstGeom>
          <a:solidFill>
            <a:srgbClr val="1A3533"/>
          </a:solidFill>
          <a:ln/>
        </p:spPr>
      </p:sp>
      <p:sp>
        <p:nvSpPr>
          <p:cNvPr id="34" name="Text 30"/>
          <p:cNvSpPr/>
          <p:nvPr/>
        </p:nvSpPr>
        <p:spPr>
          <a:xfrm>
            <a:off x="438912" y="4681728"/>
            <a:ext cx="11292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Com um patrimônio de R$ 6 MM, a sinergia entre assessoria, proteção, crédito e planejamento sucessório pode gerar valor substancial além da rentabilidade da carteira.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451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|  Próximos Passos — Plano de Ação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73152"/>
            <a:ext cx="804672" cy="8961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braunainvestimentos.com.br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Ref.: 29/05/2026  |  Conta 294954  |  XP Unique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1155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acordadas nesta reunião — responsabilidades e prazos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7472" y="1481328"/>
            <a:ext cx="3749040" cy="749808"/>
          </a:xfrm>
          <a:prstGeom prst="roundRect">
            <a:avLst>
              <a:gd name="adj" fmla="val 12195"/>
            </a:avLst>
          </a:prstGeom>
          <a:solidFill>
            <a:srgbClr val="C0392B"/>
          </a:solidFill>
          <a:ln/>
        </p:spPr>
      </p:sp>
      <p:sp>
        <p:nvSpPr>
          <p:cNvPr id="9" name="Text 6"/>
          <p:cNvSpPr/>
          <p:nvPr/>
        </p:nvSpPr>
        <p:spPr>
          <a:xfrm>
            <a:off x="484632" y="150876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Imediato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84632" y="186537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semana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7472" y="2359152"/>
            <a:ext cx="3749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12064" y="2679192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Text 10"/>
          <p:cNvSpPr/>
          <p:nvPr/>
        </p:nvSpPr>
        <p:spPr>
          <a:xfrm>
            <a:off x="512064" y="2679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14400" y="2496312"/>
            <a:ext cx="3035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Formalizar ordens de venda parcial de BBAS3 (R$ 200-300K)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47472" y="3383280"/>
            <a:ext cx="3749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12064" y="3703320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4"/>
          <p:cNvSpPr/>
          <p:nvPr/>
        </p:nvSpPr>
        <p:spPr>
          <a:xfrm>
            <a:off x="512064" y="3703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14400" y="3520440"/>
            <a:ext cx="3035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Encerrar posições em opções (AXIA e VALE derivativos)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47472" y="4407408"/>
            <a:ext cx="3749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12064" y="4727448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8"/>
          <p:cNvSpPr/>
          <p:nvPr/>
        </p:nvSpPr>
        <p:spPr>
          <a:xfrm>
            <a:off x="512064" y="4727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14400" y="4544568"/>
            <a:ext cx="3035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Atualizar cadastro, suitability e perfil de risco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47472" y="5431536"/>
            <a:ext cx="3749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12064" y="5751576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5" name="Text 22"/>
          <p:cNvSpPr/>
          <p:nvPr/>
        </p:nvSpPr>
        <p:spPr>
          <a:xfrm>
            <a:off x="512064" y="5751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914400" y="5568696"/>
            <a:ext cx="3035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proposta de PGBL 2026 para análise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261104" y="1481328"/>
            <a:ext cx="3749040" cy="749808"/>
          </a:xfrm>
          <a:prstGeom prst="roundRect">
            <a:avLst>
              <a:gd name="adj" fmla="val 12195"/>
            </a:avLst>
          </a:prstGeom>
          <a:solidFill>
            <a:srgbClr val="C8A733"/>
          </a:solidFill>
          <a:ln/>
        </p:spPr>
      </p:sp>
      <p:sp>
        <p:nvSpPr>
          <p:cNvPr id="28" name="Text 25"/>
          <p:cNvSpPr/>
          <p:nvPr/>
        </p:nvSpPr>
        <p:spPr>
          <a:xfrm>
            <a:off x="4398264" y="150876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dias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4398264" y="186537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Julho 2026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261104" y="2359152"/>
            <a:ext cx="3749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425696" y="2679192"/>
            <a:ext cx="292608" cy="292608"/>
          </a:xfrm>
          <a:prstGeom prst="ellipse">
            <a:avLst/>
          </a:prstGeom>
          <a:solidFill>
            <a:srgbClr val="C8A733"/>
          </a:solidFill>
          <a:ln/>
        </p:spPr>
      </p:sp>
      <p:sp>
        <p:nvSpPr>
          <p:cNvPr id="32" name="Text 29"/>
          <p:cNvSpPr/>
          <p:nvPr/>
        </p:nvSpPr>
        <p:spPr>
          <a:xfrm>
            <a:off x="4425696" y="2679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828032" y="2496312"/>
            <a:ext cx="3035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Realocar recursos de BBAS3 em diversificação setorial (CSMG3, CPLE3, IVVB11)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4261104" y="3383280"/>
            <a:ext cx="3749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4425696" y="3703320"/>
            <a:ext cx="292608" cy="292608"/>
          </a:xfrm>
          <a:prstGeom prst="ellipse">
            <a:avLst/>
          </a:prstGeom>
          <a:solidFill>
            <a:srgbClr val="C8A733"/>
          </a:solidFill>
          <a:ln/>
        </p:spPr>
      </p:sp>
      <p:sp>
        <p:nvSpPr>
          <p:cNvPr id="36" name="Text 33"/>
          <p:cNvSpPr/>
          <p:nvPr/>
        </p:nvSpPr>
        <p:spPr>
          <a:xfrm>
            <a:off x="4425696" y="3703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4828032" y="3520440"/>
            <a:ext cx="3035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Estruturar ampliação de Renda Fixa: IPCA+ e LCIs/LCAs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4261104" y="4407408"/>
            <a:ext cx="3749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4425696" y="4727448"/>
            <a:ext cx="292608" cy="292608"/>
          </a:xfrm>
          <a:prstGeom prst="ellipse">
            <a:avLst/>
          </a:prstGeom>
          <a:solidFill>
            <a:srgbClr val="C8A733"/>
          </a:solidFill>
          <a:ln/>
        </p:spPr>
      </p:sp>
      <p:sp>
        <p:nvSpPr>
          <p:cNvPr id="40" name="Text 37"/>
          <p:cNvSpPr/>
          <p:nvPr/>
        </p:nvSpPr>
        <p:spPr>
          <a:xfrm>
            <a:off x="4425696" y="4727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4828032" y="4544568"/>
            <a:ext cx="3035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abertura de conta PJ e análise de crédito estruturado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4261104" y="5431536"/>
            <a:ext cx="3749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4425696" y="5751576"/>
            <a:ext cx="292608" cy="292608"/>
          </a:xfrm>
          <a:prstGeom prst="ellipse">
            <a:avLst/>
          </a:prstGeom>
          <a:solidFill>
            <a:srgbClr val="C8A733"/>
          </a:solidFill>
          <a:ln/>
        </p:spPr>
      </p:sp>
      <p:sp>
        <p:nvSpPr>
          <p:cNvPr id="44" name="Text 41"/>
          <p:cNvSpPr/>
          <p:nvPr/>
        </p:nvSpPr>
        <p:spPr>
          <a:xfrm>
            <a:off x="4425696" y="5751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4828032" y="5568696"/>
            <a:ext cx="3035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Reunião com especialista em planejamento sucessório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8174736" y="1481328"/>
            <a:ext cx="3749040" cy="749808"/>
          </a:xfrm>
          <a:prstGeom prst="roundRect">
            <a:avLst>
              <a:gd name="adj" fmla="val 12195"/>
            </a:avLst>
          </a:prstGeom>
          <a:solidFill>
            <a:srgbClr val="1C6B67"/>
          </a:solidFill>
          <a:ln/>
        </p:spPr>
      </p:sp>
      <p:sp>
        <p:nvSpPr>
          <p:cNvPr id="47" name="Text 44"/>
          <p:cNvSpPr/>
          <p:nvPr/>
        </p:nvSpPr>
        <p:spPr>
          <a:xfrm>
            <a:off x="8311896" y="150876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dias</a:t>
            </a:r>
            <a:endParaRPr lang="en-US" sz="2200" dirty="0"/>
          </a:p>
        </p:txBody>
      </p:sp>
      <p:sp>
        <p:nvSpPr>
          <p:cNvPr id="48" name="Text 45"/>
          <p:cNvSpPr/>
          <p:nvPr/>
        </p:nvSpPr>
        <p:spPr>
          <a:xfrm>
            <a:off x="8311896" y="186537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Setembro 2026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8174736" y="2359152"/>
            <a:ext cx="3749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8339328" y="2679192"/>
            <a:ext cx="292608" cy="292608"/>
          </a:xfrm>
          <a:prstGeom prst="ellipse">
            <a:avLst/>
          </a:prstGeom>
          <a:solidFill>
            <a:srgbClr val="1C6B67"/>
          </a:solidFill>
          <a:ln/>
        </p:spPr>
      </p:sp>
      <p:sp>
        <p:nvSpPr>
          <p:cNvPr id="51" name="Text 48"/>
          <p:cNvSpPr/>
          <p:nvPr/>
        </p:nvSpPr>
        <p:spPr>
          <a:xfrm>
            <a:off x="8339328" y="2679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8741664" y="2496312"/>
            <a:ext cx="3035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reunião trimestral de revisão — Setembro/2026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8174736" y="3383280"/>
            <a:ext cx="3749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54" name="Shape 51"/>
          <p:cNvSpPr/>
          <p:nvPr/>
        </p:nvSpPr>
        <p:spPr>
          <a:xfrm>
            <a:off x="8339328" y="3703320"/>
            <a:ext cx="292608" cy="292608"/>
          </a:xfrm>
          <a:prstGeom prst="ellipse">
            <a:avLst/>
          </a:prstGeom>
          <a:solidFill>
            <a:srgbClr val="1C6B67"/>
          </a:solidFill>
          <a:ln/>
        </p:spPr>
      </p:sp>
      <p:sp>
        <p:nvSpPr>
          <p:cNvPr id="55" name="Text 52"/>
          <p:cNvSpPr/>
          <p:nvPr/>
        </p:nvSpPr>
        <p:spPr>
          <a:xfrm>
            <a:off x="8339328" y="3703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8741664" y="3520440"/>
            <a:ext cx="3035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desempenho do rebalanceamento e ajustes finos</a:t>
            </a:r>
            <a:endParaRPr lang="en-US" sz="1050" dirty="0"/>
          </a:p>
        </p:txBody>
      </p:sp>
      <p:sp>
        <p:nvSpPr>
          <p:cNvPr id="57" name="Shape 54"/>
          <p:cNvSpPr/>
          <p:nvPr/>
        </p:nvSpPr>
        <p:spPr>
          <a:xfrm>
            <a:off x="8174736" y="4407408"/>
            <a:ext cx="3749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58" name="Shape 55"/>
          <p:cNvSpPr/>
          <p:nvPr/>
        </p:nvSpPr>
        <p:spPr>
          <a:xfrm>
            <a:off x="8339328" y="4727448"/>
            <a:ext cx="292608" cy="292608"/>
          </a:xfrm>
          <a:prstGeom prst="ellipse">
            <a:avLst/>
          </a:prstGeom>
          <a:solidFill>
            <a:srgbClr val="1C6B67"/>
          </a:solidFill>
          <a:ln/>
        </p:spPr>
      </p:sp>
      <p:sp>
        <p:nvSpPr>
          <p:cNvPr id="59" name="Text 56"/>
          <p:cNvSpPr/>
          <p:nvPr/>
        </p:nvSpPr>
        <p:spPr>
          <a:xfrm>
            <a:off x="8339328" y="4727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8741664" y="4544568"/>
            <a:ext cx="3035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da estrutura completa de proteção (seguros + patrimônio)</a:t>
            </a:r>
            <a:endParaRPr lang="en-US" sz="1050" dirty="0"/>
          </a:p>
        </p:txBody>
      </p:sp>
      <p:sp>
        <p:nvSpPr>
          <p:cNvPr id="61" name="Shape 58"/>
          <p:cNvSpPr/>
          <p:nvPr/>
        </p:nvSpPr>
        <p:spPr>
          <a:xfrm>
            <a:off x="8174736" y="5431536"/>
            <a:ext cx="3749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62" name="Shape 59"/>
          <p:cNvSpPr/>
          <p:nvPr/>
        </p:nvSpPr>
        <p:spPr>
          <a:xfrm>
            <a:off x="8339328" y="5751576"/>
            <a:ext cx="292608" cy="292608"/>
          </a:xfrm>
          <a:prstGeom prst="ellipse">
            <a:avLst/>
          </a:prstGeom>
          <a:solidFill>
            <a:srgbClr val="1C6B67"/>
          </a:solidFill>
          <a:ln/>
        </p:spPr>
      </p:sp>
      <p:sp>
        <p:nvSpPr>
          <p:cNvPr id="63" name="Text 60"/>
          <p:cNvSpPr/>
          <p:nvPr/>
        </p:nvSpPr>
        <p:spPr>
          <a:xfrm>
            <a:off x="8339328" y="5751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4" name="Text 61"/>
          <p:cNvSpPr/>
          <p:nvPr/>
        </p:nvSpPr>
        <p:spPr>
          <a:xfrm>
            <a:off x="8741664" y="5568696"/>
            <a:ext cx="3035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anual consolidado de planejamento financeiro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62020">
              <a:alpha val="8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9897F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2608"/>
            <a:ext cx="2377440" cy="9418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1480" y="1965960"/>
            <a:ext cx="914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Antecipe seus sonhos.</a:t>
            </a:r>
            <a:endParaRPr lang="en-US" sz="5400" dirty="0"/>
          </a:p>
        </p:txBody>
      </p:sp>
      <p:sp>
        <p:nvSpPr>
          <p:cNvPr id="7" name="Text 3"/>
          <p:cNvSpPr/>
          <p:nvPr/>
        </p:nvSpPr>
        <p:spPr>
          <a:xfrm>
            <a:off x="411480" y="3063240"/>
            <a:ext cx="7315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8A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Obrigado.</a:t>
            </a:r>
            <a:endParaRPr lang="en-US" sz="4600" dirty="0"/>
          </a:p>
        </p:txBody>
      </p:sp>
      <p:sp>
        <p:nvSpPr>
          <p:cNvPr id="8" name="Shape 4"/>
          <p:cNvSpPr/>
          <p:nvPr/>
        </p:nvSpPr>
        <p:spPr>
          <a:xfrm>
            <a:off x="411480" y="4041648"/>
            <a:ext cx="4389120" cy="34747"/>
          </a:xfrm>
          <a:prstGeom prst="rect">
            <a:avLst/>
          </a:prstGeom>
          <a:solidFill>
            <a:srgbClr val="29897F"/>
          </a:solidFill>
          <a:ln/>
        </p:spPr>
      </p:sp>
      <p:sp>
        <p:nvSpPr>
          <p:cNvPr id="9" name="Text 5"/>
          <p:cNvSpPr/>
          <p:nvPr/>
        </p:nvSpPr>
        <p:spPr>
          <a:xfrm>
            <a:off x="411480" y="4206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Denis Kinoshita  |  Assessor de Investimentos  |  XP Unique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11480" y="459028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9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Braúna Ecossistema de Investimentos  |  braunainvestimentos.com.br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11480" y="4937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9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/Braunainvestimentos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229600" y="2103120"/>
            <a:ext cx="3703320" cy="4005072"/>
          </a:xfrm>
          <a:prstGeom prst="roundRect">
            <a:avLst>
              <a:gd name="adj" fmla="val 3457"/>
            </a:avLst>
          </a:prstGeom>
          <a:solidFill>
            <a:srgbClr val="1A3533"/>
          </a:solidFill>
          <a:ln/>
          <a:effectLst>
            <a:outerShdw sx="100000" sy="100000" kx="0" ky="0" algn="bl" rotWithShape="0" blurRad="152400" dist="38100" dir="2700000">
              <a:srgbClr val="000000">
                <a:alpha val="11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8394192" y="224028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da Reunião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394192" y="2615184"/>
            <a:ext cx="3200400" cy="22860"/>
          </a:xfrm>
          <a:prstGeom prst="rect">
            <a:avLst/>
          </a:prstGeom>
          <a:solidFill>
            <a:srgbClr val="29897F"/>
          </a:solidFill>
          <a:ln/>
        </p:spPr>
      </p:sp>
      <p:sp>
        <p:nvSpPr>
          <p:cNvPr id="15" name="Text 11"/>
          <p:cNvSpPr/>
          <p:nvPr/>
        </p:nvSpPr>
        <p:spPr>
          <a:xfrm>
            <a:off x="8394192" y="27614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💰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8732520" y="277977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CE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Patrimônio: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0149840" y="277063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R$ 6.065.475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8394192" y="31821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📉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8732520" y="32004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CE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Rent. Mês: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10149840" y="3191256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-4,29%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8394192" y="36027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📈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8732520" y="362102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CE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Rent. 12M: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10149840" y="361188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+3,19%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8394192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8732520" y="40416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CE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Rent. 24M: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10149840" y="4032504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+1,57%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8394192" y="44439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8732520" y="44622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CE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Volatil. 12M: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10149840" y="4453128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19,38%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8394192" y="48646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🔴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8732520" y="488289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CE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Concentração: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10149840" y="487375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BBAS3 50,42%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8394192" y="52852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34" name="Text 30"/>
          <p:cNvSpPr/>
          <p:nvPr/>
        </p:nvSpPr>
        <p:spPr>
          <a:xfrm>
            <a:off x="8732520" y="53035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CE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#1: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10149840" y="5294376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Rebalancear RV</a:t>
            </a:r>
            <a:endParaRPr lang="en-US" sz="1050" dirty="0"/>
          </a:p>
        </p:txBody>
      </p:sp>
      <p:sp>
        <p:nvSpPr>
          <p:cNvPr id="36" name="Text 32"/>
          <p:cNvSpPr/>
          <p:nvPr/>
        </p:nvSpPr>
        <p:spPr>
          <a:xfrm>
            <a:off x="8394192" y="57058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37" name="Text 33"/>
          <p:cNvSpPr/>
          <p:nvPr/>
        </p:nvSpPr>
        <p:spPr>
          <a:xfrm>
            <a:off x="8732520" y="57241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CE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#2: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10149840" y="571500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RF</a:t>
            </a:r>
            <a:endParaRPr lang="en-US" sz="1050" dirty="0"/>
          </a:p>
        </p:txBody>
      </p:sp>
      <p:sp>
        <p:nvSpPr>
          <p:cNvPr id="39" name="Text 35"/>
          <p:cNvSpPr/>
          <p:nvPr/>
        </p:nvSpPr>
        <p:spPr>
          <a:xfrm>
            <a:off x="411480" y="62636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8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#AntecipeSeusSonhos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Trimestral Braúna – Junho 2026</dc:title>
  <dc:subject>PptxGenJS Presentation</dc:subject>
  <dc:creator>PptxGenJS</dc:creator>
  <cp:lastModifiedBy>PptxGenJS</cp:lastModifiedBy>
  <cp:revision>1</cp:revision>
  <dcterms:created xsi:type="dcterms:W3CDTF">2026-06-24T21:55:54Z</dcterms:created>
  <dcterms:modified xsi:type="dcterms:W3CDTF">2026-06-24T21:55:54Z</dcterms:modified>
</cp:coreProperties>
</file>